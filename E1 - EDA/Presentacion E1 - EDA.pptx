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ACB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3" d="100"/>
          <a:sy n="93" d="100"/>
        </p:scale>
        <p:origin x="27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clustered"/>
        <c:varyColors val="0"/>
        <c:ser>
          <c:idx val="0"/>
          <c:order val="0"/>
          <c:tx>
            <c:strRef>
              <c:f>Sheet1!$B$1</c:f>
              <c:strCache>
                <c:ptCount val="1"/>
                <c:pt idx="0">
                  <c:v>Correlación con FinalGrade (r)</c:v>
                </c:pt>
              </c:strCache>
            </c:strRef>
          </c:tx>
          <c:spPr>
            <a:solidFill>
              <a:srgbClr val="5B7FDB"/>
            </a:solidFill>
            <a:effectLst/>
          </c:spPr>
          <c:invertIfNegative val="0"/>
          <c:cat>
            <c:strRef>
              <c:f>Sheet1!$A$2:$A$8</c:f>
              <c:strCache>
                <c:ptCount val="7"/>
                <c:pt idx="0">
                  <c:v>AssignmentsCompleted  (r=0.69)</c:v>
                </c:pt>
                <c:pt idx="1">
                  <c:v>PreviousGPA  (r=0.66)</c:v>
                </c:pt>
                <c:pt idx="2">
                  <c:v>Attendance  (r=0.64)</c:v>
                </c:pt>
                <c:pt idx="3">
                  <c:v>StudyHours  (r=0.50)</c:v>
                </c:pt>
                <c:pt idx="4">
                  <c:v>SleepHours  (r=0.10)</c:v>
                </c:pt>
                <c:pt idx="5">
                  <c:v>InternetHours  (r=0.01)</c:v>
                </c:pt>
                <c:pt idx="6">
                  <c:v>Age  (r=-0.01)</c:v>
                </c:pt>
              </c:strCache>
            </c:strRef>
          </c:cat>
          <c:val>
            <c:numRef>
              <c:f>Sheet1!$B$2:$B$8</c:f>
              <c:numCache>
                <c:formatCode>General</c:formatCode>
                <c:ptCount val="7"/>
                <c:pt idx="0">
                  <c:v>0.69</c:v>
                </c:pt>
                <c:pt idx="1">
                  <c:v>0.66</c:v>
                </c:pt>
                <c:pt idx="2">
                  <c:v>0.64</c:v>
                </c:pt>
                <c:pt idx="3">
                  <c:v>0.5</c:v>
                </c:pt>
                <c:pt idx="4">
                  <c:v>0.1</c:v>
                </c:pt>
                <c:pt idx="5">
                  <c:v>0.01</c:v>
                </c:pt>
                <c:pt idx="6">
                  <c:v>-0.01</c:v>
                </c:pt>
              </c:numCache>
            </c:numRef>
          </c:val>
          <c:extLst>
            <c:ext xmlns:c16="http://schemas.microsoft.com/office/drawing/2014/chart" uri="{C3380CC4-5D6E-409C-BE32-E72D297353CC}">
              <c16:uniqueId val="{00000000-14FA-4212-A75F-13C0A4E6644B}"/>
            </c:ext>
          </c:extLst>
        </c:ser>
        <c:dLbls>
          <c:showLegendKey val="0"/>
          <c:showVal val="0"/>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max val="0.85"/>
          <c:min val="-0.2"/>
        </c:scaling>
        <c:delete val="0"/>
        <c:axPos val="b"/>
        <c:majorGridlines>
          <c:spPr>
            <a:ln w="9525" cap="flat">
              <a:solidFill>
                <a:srgbClr val="E4E9F4"/>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4A556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9849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CRISTÓBAL (0:00–0:20): Buenos días/tardes. Somos el equipo de Rendimiento Académico Estudiantil y presentaremos la Evaluación 1: diagnóstico de calidad, análisis exploratorio y preparación reproducible de datos, previo al modelado del rendimiento final. Trabajamos sobre un dataset de 5.100 registros, 11 variables y 5 programas académicos.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CRISTÓBAL (0:20–0:50): Antes de analizar o modelar el rendimiento académico, necesitábamos asegurarnos de que los datos fueran confiables. El identificador es StudentID, aunque no es único a nivel de fila —eso ya es una pista de que hay duplicados—, y la variable objetivo es FinalGrade, en escala 1 a 10. Nuestro objetivo fue diagnosticar la calidad, responder cuatro preguntas de investigación mediante EDA, tratar los datos con Pipeline y ColumnTransformer de scikit-learn, y entregar un CSV limpio y reproducible.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CRISTÓBAL (0:50–1:45): Encontramos cuatro grandes problemas. Primero, valores faltantes entre 1.4% y 4.4% por variable, sin superar el 5%, compatibles con un mecanismo aleatorio (MCAR). Segundo, 100 filas duplicadas exactas, un 2% del dataset, que confirmamos como reingresos accidentales del mismo estudiante. Tercero, inconsistencias de dominio: 59 registros con valores físicamente imposibles, como asistencia negativa o mayor a 100%, horas de sueño negativas, o más de 24 horas de internet en un día, más 4 notas fuera de la escala oficial. Y cuarto, formato inconsistente en las variables categóricas: 7 variantes de texto para Scholarship y 12 para Program, por tildes, mayúsculas y espacios. Una aclaración importante: StudyHours es una variable semanal, no diaria, por lo que su dominio válido es 0 a 168 horas y no presenta violaciones — no es parte de estos cuatro problemas.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MARTÍN (1:45–2:25): Además de los problemas de dominio, aplicamos el método del rango intercuartílico para detectar outliers estadísticos en las variables numéricas. Fue clave distinguir un valor inválido —como una nota fuera de escala— de un valor extremo pero real, como un estudiante mayor o con alto consumo de internet. En total, 393 registros tuvieron al menos un valor capado por IQR. Decidimos winsorizar, es decir, acotar esos valores a los límites del rango intercuartílico, en lugar de eliminar al estudiante completo.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MARTÍN (2:25–3:05): Una vez corregidos los valores inválidos, hicimos el análisis exploratorio. FinalGrade se distribuye de forma bastante simétrica, con media 4.17 y mediana 4.23, sin sesgo marcado. Al mirar las correlaciones con la nota final, las tareas completadas, el promedio previo y la asistencia son las variables más asociadas al rendimiento, con correlaciones entre 0.64 y 0.69. Las horas de estudio semanales tienen una asociación más moderada, y la edad, horas de sueño e internet prácticamente no se relacionan con la nota.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MARTÍN (3:05–4:00): Respondimos cuatro preguntas de investigación. Uno, sí existe diferencia por beca: los becados promedian 4.37 contra 4.08 de quienes no tienen beca, una diferencia significativa según un test t de Welch. Dos, Ingeniería Informática tiene el promedio más alto y Contador Auditor el más bajo, pero la diferencia es de solo 0.18 puntos, bastante menor que el efecto de la beca. Tres, existe una relación positiva moderada entre horas de estudio y nota final, con una correlación de 0.50. Y cuatro, la asistencia tiene una relación positiva y fuerte con el rendimiento, con una correlación de 0.64, confirmada también al comparar el promedio por cuartiles de asistencia.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BENJAMÍN (4:00–4:50): Con el diagnóstico completo, definimos una estrategia de tratamiento en cuatro pasos. Primero, validar el dominio, convirtiendo en nulos los valores físicamente imposibles. Segundo, imputar: mediana para las variables numéricas, por ser robusta a outliers, y moda para las categóricas, además de normalizar el texto a categorías canónicas. Tercero, capar los outliers estadísticos válidos con el método IQR. Y cuarto, codificar las variables categóricas con One-Hot y escalar las numéricas con StandardScaler. Además, eliminamos 100 duplicados exactos y 4 registros con FinalGrade fuera de escala antes de construir el pipeline, porque al ser la variable objetivo, nunca la imputamos: eso introduciría una fuga de información.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BENJAMÍN (4:50–5:35): Todo esto lo implementamos de forma reproducible con Pipeline y ColumnTransformer de scikit-learn. Construimos tres transformadores personalizados —DomainRangeCleaner, IQRCapper y CategoricalNormalizer— compatibles con la API de scikit-learn. El sub-pipeline numérico limpia el dominio, imputa con la mediana, capa outliers y escala; el sub-pipeline categórico normaliza texto, imputa con la moda y aplica One-Hot Encoding. Ambos se combinan en un ColumnTransformer, y FinalGrade se mantiene siempre separada como variable objetivo. Todo el proceso puede ejecutarse nuevamente sobre el CSV original y llegar exactamente al mismo resultado.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DARÍO (5:35–6:15): Este es el resultado. El dataset tratado quedó con 4.996 registros —104 menos que el original, por los duplicados y las notas fuera de escala— y 16 variables, ya que el One-Hot Encoding expande Scholarship y Program en columnas binarias. Y lo más importante: los valores faltantes, los duplicados, las inconsistencias y los outliers sin tratar bajaron de cientos de casos a cero. Verificamos además que no quedan outliers extremos remanentes.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DARÍO (6:15–7:00): En síntesis, tres conclusiones. Uno, el cumplimiento de tareas, el rendimiento previo y la asistencia son los factores más asociados al rendimiento académico. Dos, tener beca se asocia con mejor rendimiento, aunque eso puede reflejar tanto un efecto real como un sesgo de selección. Y tres, el programa académico explica poca variación en la nota final. Todo este proceso, diagnosticado, justificado y tratado de forma reproducible, quedó plasmado en rendimiento_academico_limpio.csv, listo para modelos predictivos. Muchas gracias.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ransition spd="slow">
    <p:push dir="u"/>
  </p:transition>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418320" y="-1463040"/>
            <a:ext cx="4572000" cy="4572000"/>
          </a:xfrm>
          <a:prstGeom prst="ellipse">
            <a:avLst/>
          </a:prstGeom>
          <a:solidFill>
            <a:srgbClr val="141B4D"/>
          </a:solidFill>
          <a:ln/>
        </p:spPr>
        <p:txBody>
          <a:bodyPr/>
          <a:lstStyle/>
          <a:p>
            <a:endParaRPr lang="es-CL"/>
          </a:p>
        </p:txBody>
      </p:sp>
      <p:sp>
        <p:nvSpPr>
          <p:cNvPr id="3" name="Shape 1"/>
          <p:cNvSpPr/>
          <p:nvPr/>
        </p:nvSpPr>
        <p:spPr>
          <a:xfrm>
            <a:off x="-1645920" y="4937760"/>
            <a:ext cx="3657600" cy="3657600"/>
          </a:xfrm>
          <a:prstGeom prst="ellipse">
            <a:avLst/>
          </a:prstGeom>
          <a:solidFill>
            <a:srgbClr val="141B4D"/>
          </a:solidFill>
          <a:ln/>
        </p:spPr>
        <p:txBody>
          <a:bodyPr/>
          <a:lstStyle/>
          <a:p>
            <a:endParaRPr lang="es-CL"/>
          </a:p>
        </p:txBody>
      </p:sp>
      <p:sp>
        <p:nvSpPr>
          <p:cNvPr id="4" name="Shape 2"/>
          <p:cNvSpPr/>
          <p:nvPr/>
        </p:nvSpPr>
        <p:spPr>
          <a:xfrm>
            <a:off x="9692640" y="640080"/>
            <a:ext cx="1371600" cy="1371600"/>
          </a:xfrm>
          <a:prstGeom prst="ellipse">
            <a:avLst/>
          </a:prstGeom>
          <a:solidFill>
            <a:srgbClr val="5B7FDB"/>
          </a:solidFill>
          <a:ln/>
        </p:spPr>
        <p:txBody>
          <a:bodyPr/>
          <a:lstStyle/>
          <a:p>
            <a:endParaRPr lang="es-CL"/>
          </a:p>
        </p:txBody>
      </p:sp>
      <p:pic>
        <p:nvPicPr>
          <p:cNvPr id="5" name="Image 0" descr="icons/graduation_white.png"/>
          <p:cNvPicPr>
            <a:picLocks noChangeAspect="1"/>
          </p:cNvPicPr>
          <p:nvPr/>
        </p:nvPicPr>
        <p:blipFill>
          <a:blip r:embed="rId3"/>
          <a:stretch>
            <a:fillRect/>
          </a:stretch>
        </p:blipFill>
        <p:spPr>
          <a:xfrm>
            <a:off x="10021824" y="969264"/>
            <a:ext cx="713232" cy="713232"/>
          </a:xfrm>
          <a:prstGeom prst="rect">
            <a:avLst/>
          </a:prstGeom>
        </p:spPr>
      </p:pic>
      <p:sp>
        <p:nvSpPr>
          <p:cNvPr id="6" name="Text 3"/>
          <p:cNvSpPr txBox="1"/>
          <p:nvPr/>
        </p:nvSpPr>
        <p:spPr>
          <a:xfrm>
            <a:off x="640080" y="914400"/>
            <a:ext cx="8503920" cy="365760"/>
          </a:xfrm>
          <a:prstGeom prst="rect">
            <a:avLst/>
          </a:prstGeom>
          <a:noFill/>
          <a:ln/>
        </p:spPr>
        <p:txBody>
          <a:bodyPr wrap="square" rtlCol="0" anchor="ctr"/>
          <a:lstStyle/>
          <a:p>
            <a:pPr marL="0" indent="0">
              <a:buNone/>
            </a:pPr>
            <a:r>
              <a:rPr lang="en-US" sz="1300" b="1" kern="0" spc="200" dirty="0">
                <a:solidFill>
                  <a:srgbClr val="CADCFC"/>
                </a:solidFill>
                <a:latin typeface="Calibri" pitchFamily="34" charset="0"/>
                <a:ea typeface="Calibri" pitchFamily="34" charset="-122"/>
                <a:cs typeface="Calibri" pitchFamily="34" charset="-120"/>
              </a:rPr>
              <a:t>EVALUACIÓN 1 · CALIDAD Y PREPARACIÓN DE DATOS</a:t>
            </a:r>
            <a:endParaRPr lang="en-US" sz="1300" dirty="0"/>
          </a:p>
        </p:txBody>
      </p:sp>
      <p:sp>
        <p:nvSpPr>
          <p:cNvPr id="7" name="Text 4"/>
          <p:cNvSpPr txBox="1"/>
          <p:nvPr/>
        </p:nvSpPr>
        <p:spPr>
          <a:xfrm>
            <a:off x="640080" y="1371600"/>
            <a:ext cx="9601200" cy="91440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Rendimiento Académico Estudiantil</a:t>
            </a:r>
            <a:endParaRPr lang="en-US" sz="4000" dirty="0"/>
          </a:p>
        </p:txBody>
      </p:sp>
      <p:sp>
        <p:nvSpPr>
          <p:cNvPr id="8" name="Text 5"/>
          <p:cNvSpPr txBox="1"/>
          <p:nvPr/>
        </p:nvSpPr>
        <p:spPr>
          <a:xfrm>
            <a:off x="640080" y="2331720"/>
            <a:ext cx="8503920" cy="640080"/>
          </a:xfrm>
          <a:prstGeom prst="rect">
            <a:avLst/>
          </a:prstGeom>
          <a:noFill/>
          <a:ln/>
        </p:spPr>
        <p:txBody>
          <a:bodyPr wrap="square" rtlCol="0" anchor="ctr"/>
          <a:lstStyle/>
          <a:p>
            <a:pPr marL="0" indent="0">
              <a:buNone/>
            </a:pPr>
            <a:r>
              <a:rPr lang="en-US" sz="1500" dirty="0">
                <a:solidFill>
                  <a:srgbClr val="CADCFC"/>
                </a:solidFill>
                <a:latin typeface="Calibri" pitchFamily="34" charset="0"/>
                <a:ea typeface="Calibri" pitchFamily="34" charset="-122"/>
                <a:cs typeface="Calibri" pitchFamily="34" charset="-120"/>
              </a:rPr>
              <a:t>Diagnóstico de calidad, análisis exploratorio y preparación reproducible de datos previo al modelado predictivo del rendimiento final (FinalGrade).</a:t>
            </a:r>
            <a:endParaRPr lang="en-US" sz="1500" dirty="0"/>
          </a:p>
        </p:txBody>
      </p:sp>
      <p:grpSp>
        <p:nvGrpSpPr>
          <p:cNvPr id="25" name="Grupo 24">
            <a:extLst>
              <a:ext uri="{FF2B5EF4-FFF2-40B4-BE49-F238E27FC236}">
                <a16:creationId xmlns:a16="http://schemas.microsoft.com/office/drawing/2014/main" id="{A186C128-B02F-3030-86B6-A9B3BEF69736}"/>
              </a:ext>
            </a:extLst>
          </p:cNvPr>
          <p:cNvGrpSpPr/>
          <p:nvPr/>
        </p:nvGrpSpPr>
        <p:grpSpPr>
          <a:xfrm>
            <a:off x="1647925" y="3364992"/>
            <a:ext cx="8896150" cy="1371600"/>
            <a:chOff x="1579192" y="3429000"/>
            <a:chExt cx="8896150" cy="1371600"/>
          </a:xfrm>
        </p:grpSpPr>
        <p:sp>
          <p:nvSpPr>
            <p:cNvPr id="9" name="Shape 6"/>
            <p:cNvSpPr/>
            <p:nvPr/>
          </p:nvSpPr>
          <p:spPr>
            <a:xfrm>
              <a:off x="1579192" y="3429000"/>
              <a:ext cx="2514600" cy="1371600"/>
            </a:xfrm>
            <a:prstGeom prst="roundRect">
              <a:avLst>
                <a:gd name="adj" fmla="val 5333"/>
              </a:avLst>
            </a:prstGeom>
            <a:solidFill>
              <a:srgbClr val="141B4D"/>
            </a:solidFill>
            <a:ln/>
          </p:spPr>
          <p:txBody>
            <a:bodyPr/>
            <a:lstStyle/>
            <a:p>
              <a:endParaRPr lang="es-CL"/>
            </a:p>
          </p:txBody>
        </p:sp>
        <p:sp>
          <p:nvSpPr>
            <p:cNvPr id="10" name="Text 7"/>
            <p:cNvSpPr txBox="1"/>
            <p:nvPr/>
          </p:nvSpPr>
          <p:spPr>
            <a:xfrm>
              <a:off x="1716352" y="3593592"/>
              <a:ext cx="224028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5.100</a:t>
              </a:r>
              <a:endParaRPr lang="en-US" sz="3200" dirty="0"/>
            </a:p>
          </p:txBody>
        </p:sp>
        <p:sp>
          <p:nvSpPr>
            <p:cNvPr id="11" name="Text 8"/>
            <p:cNvSpPr txBox="1"/>
            <p:nvPr/>
          </p:nvSpPr>
          <p:spPr>
            <a:xfrm>
              <a:off x="1716352" y="4297680"/>
              <a:ext cx="2240280" cy="411480"/>
            </a:xfrm>
            <a:prstGeom prst="rect">
              <a:avLst/>
            </a:prstGeom>
            <a:noFill/>
            <a:ln/>
          </p:spPr>
          <p:txBody>
            <a:bodyPr wrap="square" rtlCol="0" anchor="ctr"/>
            <a:lstStyle/>
            <a:p>
              <a:pPr marL="0" indent="0">
                <a:buNone/>
              </a:pPr>
              <a:r>
                <a:rPr lang="en-US" sz="1050" b="1" kern="0" spc="100" dirty="0">
                  <a:solidFill>
                    <a:srgbClr val="CADCFC"/>
                  </a:solidFill>
                  <a:latin typeface="Calibri" pitchFamily="34" charset="0"/>
                  <a:ea typeface="Calibri" pitchFamily="34" charset="-122"/>
                  <a:cs typeface="Calibri" pitchFamily="34" charset="-120"/>
                </a:rPr>
                <a:t>REGISTROS ORIGINALES</a:t>
              </a:r>
              <a:endParaRPr lang="en-US" sz="1050" dirty="0"/>
            </a:p>
          </p:txBody>
        </p:sp>
        <p:sp>
          <p:nvSpPr>
            <p:cNvPr id="12" name="Shape 9"/>
            <p:cNvSpPr/>
            <p:nvPr/>
          </p:nvSpPr>
          <p:spPr>
            <a:xfrm>
              <a:off x="4769967" y="3429000"/>
              <a:ext cx="2514600" cy="1371600"/>
            </a:xfrm>
            <a:prstGeom prst="roundRect">
              <a:avLst>
                <a:gd name="adj" fmla="val 5333"/>
              </a:avLst>
            </a:prstGeom>
            <a:solidFill>
              <a:srgbClr val="141B4D"/>
            </a:solidFill>
            <a:ln/>
          </p:spPr>
          <p:txBody>
            <a:bodyPr/>
            <a:lstStyle/>
            <a:p>
              <a:endParaRPr lang="es-CL"/>
            </a:p>
          </p:txBody>
        </p:sp>
        <p:sp>
          <p:nvSpPr>
            <p:cNvPr id="13" name="Text 10"/>
            <p:cNvSpPr txBox="1"/>
            <p:nvPr/>
          </p:nvSpPr>
          <p:spPr>
            <a:xfrm>
              <a:off x="4907127" y="3593592"/>
              <a:ext cx="224028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11</a:t>
              </a:r>
              <a:endParaRPr lang="en-US" sz="3200" dirty="0"/>
            </a:p>
          </p:txBody>
        </p:sp>
        <p:sp>
          <p:nvSpPr>
            <p:cNvPr id="14" name="Text 11"/>
            <p:cNvSpPr txBox="1"/>
            <p:nvPr/>
          </p:nvSpPr>
          <p:spPr>
            <a:xfrm>
              <a:off x="4907127" y="4297680"/>
              <a:ext cx="2240280" cy="411480"/>
            </a:xfrm>
            <a:prstGeom prst="rect">
              <a:avLst/>
            </a:prstGeom>
            <a:noFill/>
            <a:ln/>
          </p:spPr>
          <p:txBody>
            <a:bodyPr wrap="square" rtlCol="0" anchor="ctr"/>
            <a:lstStyle/>
            <a:p>
              <a:pPr marL="0" indent="0">
                <a:buNone/>
              </a:pPr>
              <a:r>
                <a:rPr lang="en-US" sz="1050" b="1" kern="0" spc="100" dirty="0">
                  <a:solidFill>
                    <a:srgbClr val="CADCFC"/>
                  </a:solidFill>
                  <a:latin typeface="Calibri" pitchFamily="34" charset="0"/>
                  <a:ea typeface="Calibri" pitchFamily="34" charset="-122"/>
                  <a:cs typeface="Calibri" pitchFamily="34" charset="-120"/>
                </a:rPr>
                <a:t>VARIABLES</a:t>
              </a:r>
              <a:endParaRPr lang="en-US" sz="1050" dirty="0"/>
            </a:p>
          </p:txBody>
        </p:sp>
        <p:sp>
          <p:nvSpPr>
            <p:cNvPr id="15" name="Shape 12"/>
            <p:cNvSpPr/>
            <p:nvPr/>
          </p:nvSpPr>
          <p:spPr>
            <a:xfrm>
              <a:off x="7960742" y="3429000"/>
              <a:ext cx="2514600" cy="1371600"/>
            </a:xfrm>
            <a:prstGeom prst="roundRect">
              <a:avLst>
                <a:gd name="adj" fmla="val 5333"/>
              </a:avLst>
            </a:prstGeom>
            <a:solidFill>
              <a:srgbClr val="141B4D"/>
            </a:solidFill>
            <a:ln/>
          </p:spPr>
          <p:txBody>
            <a:bodyPr/>
            <a:lstStyle/>
            <a:p>
              <a:endParaRPr lang="es-CL"/>
            </a:p>
          </p:txBody>
        </p:sp>
        <p:sp>
          <p:nvSpPr>
            <p:cNvPr id="16" name="Text 13"/>
            <p:cNvSpPr txBox="1"/>
            <p:nvPr/>
          </p:nvSpPr>
          <p:spPr>
            <a:xfrm>
              <a:off x="8097902" y="3593592"/>
              <a:ext cx="224028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5</a:t>
              </a:r>
              <a:endParaRPr lang="en-US" sz="3200" dirty="0"/>
            </a:p>
          </p:txBody>
        </p:sp>
        <p:sp>
          <p:nvSpPr>
            <p:cNvPr id="17" name="Text 14"/>
            <p:cNvSpPr txBox="1"/>
            <p:nvPr/>
          </p:nvSpPr>
          <p:spPr>
            <a:xfrm>
              <a:off x="8097902" y="4297680"/>
              <a:ext cx="2240280" cy="411480"/>
            </a:xfrm>
            <a:prstGeom prst="rect">
              <a:avLst/>
            </a:prstGeom>
            <a:noFill/>
            <a:ln/>
          </p:spPr>
          <p:txBody>
            <a:bodyPr wrap="square" rtlCol="0" anchor="ctr"/>
            <a:lstStyle/>
            <a:p>
              <a:pPr marL="0" indent="0">
                <a:buNone/>
              </a:pPr>
              <a:r>
                <a:rPr lang="en-US" sz="1050" b="1" kern="0" spc="100" dirty="0">
                  <a:solidFill>
                    <a:srgbClr val="CADCFC"/>
                  </a:solidFill>
                  <a:latin typeface="Calibri" pitchFamily="34" charset="0"/>
                  <a:ea typeface="Calibri" pitchFamily="34" charset="-122"/>
                  <a:cs typeface="Calibri" pitchFamily="34" charset="-120"/>
                </a:rPr>
                <a:t>PROGRAMAS ACADÉMICOS</a:t>
              </a:r>
              <a:endParaRPr lang="en-US" sz="1050" dirty="0"/>
            </a:p>
          </p:txBody>
        </p:sp>
      </p:grpSp>
      <p:sp>
        <p:nvSpPr>
          <p:cNvPr id="21" name="Text 18"/>
          <p:cNvSpPr txBox="1"/>
          <p:nvPr/>
        </p:nvSpPr>
        <p:spPr>
          <a:xfrm>
            <a:off x="640080" y="5074920"/>
            <a:ext cx="10515600" cy="32004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Cristóbal Soto Vidal  ·  Martín Romero Álvarez  ·  Benjamín Paredes Aguayo  ·  Darío Silva Pedreros</a:t>
            </a:r>
            <a:endParaRPr lang="en-US" sz="1200" dirty="0"/>
          </a:p>
        </p:txBody>
      </p:sp>
      <p:sp>
        <p:nvSpPr>
          <p:cNvPr id="22" name="Text 19"/>
          <p:cNvSpPr txBox="1"/>
          <p:nvPr/>
        </p:nvSpPr>
        <p:spPr>
          <a:xfrm>
            <a:off x="640080" y="5394960"/>
            <a:ext cx="10515600" cy="320040"/>
          </a:xfrm>
          <a:prstGeom prst="rect">
            <a:avLst/>
          </a:prstGeom>
          <a:noFill/>
          <a:ln/>
        </p:spPr>
        <p:txBody>
          <a:bodyPr wrap="square" rtlCol="0" anchor="ctr"/>
          <a:lstStyle/>
          <a:p>
            <a:pPr marL="0" indent="0">
              <a:buNone/>
            </a:pPr>
            <a:r>
              <a:rPr lang="en-US" sz="1100" dirty="0">
                <a:solidFill>
                  <a:srgbClr val="BACBED"/>
                </a:solidFill>
                <a:latin typeface="Calibri" pitchFamily="34" charset="0"/>
                <a:ea typeface="Calibri" pitchFamily="34" charset="-122"/>
                <a:cs typeface="Calibri" pitchFamily="34" charset="-120"/>
              </a:rPr>
              <a:t>Asignatura Inteligencia Artificial (620454) · Universidad del Bío-Bío · Septiembre 2026</a:t>
            </a:r>
            <a:endParaRPr lang="en-US" sz="1100" dirty="0">
              <a:solidFill>
                <a:srgbClr val="BACBED"/>
              </a:solidFill>
            </a:endParaRPr>
          </a:p>
        </p:txBody>
      </p:sp>
      <p:sp>
        <p:nvSpPr>
          <p:cNvPr id="23" name="Text 20"/>
          <p:cNvSpPr txBox="1"/>
          <p:nvPr/>
        </p:nvSpPr>
        <p:spPr>
          <a:xfrm>
            <a:off x="457200" y="6473952"/>
            <a:ext cx="8686800" cy="274320"/>
          </a:xfrm>
          <a:prstGeom prst="rect">
            <a:avLst/>
          </a:prstGeom>
          <a:noFill/>
          <a:ln/>
        </p:spPr>
        <p:txBody>
          <a:bodyPr wrap="square" rtlCol="0" anchor="ctr"/>
          <a:lstStyle/>
          <a:p>
            <a:pPr marL="0" indent="0">
              <a:buNone/>
            </a:pPr>
            <a:r>
              <a:rPr lang="en-US" sz="900" dirty="0">
                <a:solidFill>
                  <a:srgbClr val="8891C4"/>
                </a:solidFill>
                <a:latin typeface="Calibri" pitchFamily="34" charset="0"/>
                <a:ea typeface="Calibri" pitchFamily="34" charset="-122"/>
                <a:cs typeface="Calibri" pitchFamily="34" charset="-120"/>
              </a:rPr>
              <a:t>Evaluación 1 · Calidad y Preparación de Datos · Rendimiento Académico</a:t>
            </a:r>
            <a:endParaRPr lang="en-US" sz="900" dirty="0"/>
          </a:p>
        </p:txBody>
      </p:sp>
      <p:sp>
        <p:nvSpPr>
          <p:cNvPr id="24" name="Text 21"/>
          <p:cNvSpPr txBox="1"/>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8891C4"/>
                </a:solidFill>
                <a:latin typeface="Calibri" pitchFamily="34" charset="0"/>
                <a:ea typeface="Calibri" pitchFamily="34" charset="-122"/>
                <a:cs typeface="Calibri" pitchFamily="34" charset="-120"/>
              </a:rPr>
              <a:t>1</a:t>
            </a:r>
            <a:endParaRPr lang="en-US" sz="900"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54864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Contexto y objetivo del trabajo</a:t>
            </a:r>
            <a:endParaRPr lang="en-US" sz="3000" dirty="0"/>
          </a:p>
        </p:txBody>
      </p:sp>
      <p:sp>
        <p:nvSpPr>
          <p:cNvPr id="3" name="Text 1"/>
          <p:cNvSpPr txBox="1"/>
          <p:nvPr/>
        </p:nvSpPr>
        <p:spPr>
          <a:xfrm>
            <a:off x="548640" y="960120"/>
            <a:ext cx="11064240" cy="365760"/>
          </a:xfrm>
          <a:prstGeom prst="rect">
            <a:avLst/>
          </a:prstGeom>
          <a:noFill/>
          <a:ln/>
        </p:spPr>
        <p:txBody>
          <a:bodyPr wrap="square" rtlCol="0" anchor="ctr"/>
          <a:lstStyle/>
          <a:p>
            <a:pPr marL="0" indent="0">
              <a:buNone/>
            </a:pPr>
            <a:r>
              <a:rPr lang="en-US" sz="1400" dirty="0">
                <a:solidFill>
                  <a:srgbClr val="4A5568"/>
                </a:solidFill>
                <a:latin typeface="Calibri" pitchFamily="34" charset="0"/>
                <a:ea typeface="Calibri" pitchFamily="34" charset="-122"/>
                <a:cs typeface="Calibri" pitchFamily="34" charset="-120"/>
              </a:rPr>
              <a:t>¿Por qué auditar la calidad de los datos antes de analizarlos?</a:t>
            </a:r>
            <a:endParaRPr lang="en-US" sz="1400" dirty="0"/>
          </a:p>
        </p:txBody>
      </p:sp>
      <p:sp>
        <p:nvSpPr>
          <p:cNvPr id="4" name="Shape 2"/>
          <p:cNvSpPr/>
          <p:nvPr/>
        </p:nvSpPr>
        <p:spPr>
          <a:xfrm>
            <a:off x="548640" y="1508760"/>
            <a:ext cx="6309360" cy="4572000"/>
          </a:xfrm>
          <a:prstGeom prst="roundRect">
            <a:avLst>
              <a:gd name="adj" fmla="val 2000"/>
            </a:avLst>
          </a:prstGeom>
          <a:solidFill>
            <a:srgbClr val="F0F3FA"/>
          </a:solidFill>
          <a:ln/>
        </p:spPr>
        <p:txBody>
          <a:bodyPr/>
          <a:lstStyle/>
          <a:p>
            <a:endParaRPr lang="es-CL"/>
          </a:p>
        </p:txBody>
      </p:sp>
      <p:sp>
        <p:nvSpPr>
          <p:cNvPr id="5" name="Text 3"/>
          <p:cNvSpPr txBox="1"/>
          <p:nvPr/>
        </p:nvSpPr>
        <p:spPr>
          <a:xfrm>
            <a:off x="868680" y="1783080"/>
            <a:ext cx="5669280" cy="36576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El problema</a:t>
            </a:r>
            <a:endParaRPr lang="en-US" sz="1600" dirty="0"/>
          </a:p>
        </p:txBody>
      </p:sp>
      <p:sp>
        <p:nvSpPr>
          <p:cNvPr id="6" name="Text 4"/>
          <p:cNvSpPr txBox="1"/>
          <p:nvPr/>
        </p:nvSpPr>
        <p:spPr>
          <a:xfrm>
            <a:off x="868680" y="2194560"/>
            <a:ext cx="5669280" cy="1371600"/>
          </a:xfrm>
          <a:prstGeom prst="rect">
            <a:avLst/>
          </a:prstGeom>
          <a:noFill/>
          <a:ln/>
        </p:spPr>
        <p:txBody>
          <a:bodyPr wrap="square" rtlCol="0" anchor="ctr"/>
          <a:lstStyle/>
          <a:p>
            <a:pPr marL="0" indent="0">
              <a:lnSpc>
                <a:spcPct val="115000"/>
              </a:lnSpc>
              <a:buNone/>
            </a:pPr>
            <a:r>
              <a:rPr lang="en-US" sz="1300" dirty="0">
                <a:solidFill>
                  <a:srgbClr val="4A5568"/>
                </a:solidFill>
                <a:latin typeface="Calibri" pitchFamily="34" charset="0"/>
                <a:ea typeface="Calibri" pitchFamily="34" charset="-122"/>
                <a:cs typeface="Calibri" pitchFamily="34" charset="-120"/>
              </a:rPr>
              <a:t>Una institución de educación superior desea comprender qué factores explican el rendimiento académico de sus estudiantes (FinalGrade). Antes de analizar o modelar, es indispensable determinar si el dataset presenta problemas de calidad que puedan sesgar las conclusiones: valores faltantes, duplicados, inconsistencias de dominio y outliers.</a:t>
            </a:r>
            <a:endParaRPr lang="en-US" sz="1300" dirty="0"/>
          </a:p>
        </p:txBody>
      </p:sp>
      <p:sp>
        <p:nvSpPr>
          <p:cNvPr id="7" name="Text 5"/>
          <p:cNvSpPr txBox="1"/>
          <p:nvPr/>
        </p:nvSpPr>
        <p:spPr>
          <a:xfrm>
            <a:off x="868680" y="3703320"/>
            <a:ext cx="5669280" cy="36576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Objetivo</a:t>
            </a:r>
            <a:endParaRPr lang="en-US" sz="1600" dirty="0"/>
          </a:p>
        </p:txBody>
      </p:sp>
      <p:sp>
        <p:nvSpPr>
          <p:cNvPr id="8" name="Text 6"/>
          <p:cNvSpPr txBox="1"/>
          <p:nvPr/>
        </p:nvSpPr>
        <p:spPr>
          <a:xfrm>
            <a:off x="868680" y="4114800"/>
            <a:ext cx="5669280" cy="1737360"/>
          </a:xfrm>
          <a:prstGeom prst="rect">
            <a:avLst/>
          </a:prstGeom>
          <a:noFill/>
          <a:ln/>
        </p:spPr>
        <p:txBody>
          <a:bodyPr wrap="square" rtlCol="0" anchor="ctr"/>
          <a:lstStyle/>
          <a:p>
            <a:pPr marL="342900" indent="-342900">
              <a:spcAft>
                <a:spcPts val="800"/>
              </a:spcAft>
              <a:buSzPct val="100000"/>
              <a:buChar char="•"/>
            </a:pPr>
            <a:r>
              <a:rPr lang="en-US" sz="1250" dirty="0">
                <a:solidFill>
                  <a:srgbClr val="4A5568"/>
                </a:solidFill>
                <a:latin typeface="Calibri" pitchFamily="34" charset="0"/>
                <a:ea typeface="Calibri" pitchFamily="34" charset="-122"/>
                <a:cs typeface="Calibri" pitchFamily="34" charset="-120"/>
              </a:rPr>
              <a:t>Diagnosticar la calidad del dataset crudo</a:t>
            </a:r>
            <a:endParaRPr lang="en-US" sz="1250" dirty="0"/>
          </a:p>
          <a:p>
            <a:pPr marL="342900" indent="-342900">
              <a:spcAft>
                <a:spcPts val="800"/>
              </a:spcAft>
              <a:buSzPct val="100000"/>
              <a:buChar char="•"/>
            </a:pPr>
            <a:r>
              <a:rPr lang="en-US" sz="1250" dirty="0">
                <a:solidFill>
                  <a:srgbClr val="4A5568"/>
                </a:solidFill>
                <a:latin typeface="Calibri" pitchFamily="34" charset="0"/>
                <a:ea typeface="Calibri" pitchFamily="34" charset="-122"/>
                <a:cs typeface="Calibri" pitchFamily="34" charset="-120"/>
              </a:rPr>
              <a:t>Realizar un análisis exploratorio (EDA) y responder 4 preguntas de investigación</a:t>
            </a:r>
            <a:endParaRPr lang="en-US" sz="1250" dirty="0"/>
          </a:p>
          <a:p>
            <a:pPr marL="342900" indent="-342900">
              <a:spcAft>
                <a:spcPts val="800"/>
              </a:spcAft>
              <a:buSzPct val="100000"/>
              <a:buChar char="•"/>
            </a:pPr>
            <a:r>
              <a:rPr lang="en-US" sz="1250" dirty="0">
                <a:solidFill>
                  <a:srgbClr val="4A5568"/>
                </a:solidFill>
                <a:latin typeface="Calibri" pitchFamily="34" charset="0"/>
                <a:ea typeface="Calibri" pitchFamily="34" charset="-122"/>
                <a:cs typeface="Calibri" pitchFamily="34" charset="-120"/>
              </a:rPr>
              <a:t>Definir e implementar el tratamiento mediante Pipeline y ColumnTransformer (scikit-learn)</a:t>
            </a:r>
            <a:endParaRPr lang="en-US" sz="1250" dirty="0"/>
          </a:p>
          <a:p>
            <a:pPr marL="342900" indent="-342900">
              <a:spcAft>
                <a:spcPts val="800"/>
              </a:spcAft>
              <a:buSzPct val="100000"/>
              <a:buChar char="•"/>
            </a:pPr>
            <a:r>
              <a:rPr lang="en-US" sz="1250" dirty="0">
                <a:solidFill>
                  <a:srgbClr val="4A5568"/>
                </a:solidFill>
                <a:latin typeface="Calibri" pitchFamily="34" charset="0"/>
                <a:ea typeface="Calibri" pitchFamily="34" charset="-122"/>
                <a:cs typeface="Calibri" pitchFamily="34" charset="-120"/>
              </a:rPr>
              <a:t>Exportar un dataset final limpio y reproducible: rendimiento_academico_limpio.csv</a:t>
            </a:r>
            <a:endParaRPr lang="en-US" sz="1250" dirty="0"/>
          </a:p>
        </p:txBody>
      </p:sp>
      <p:sp>
        <p:nvSpPr>
          <p:cNvPr id="9" name="Shape 7"/>
          <p:cNvSpPr/>
          <p:nvPr/>
        </p:nvSpPr>
        <p:spPr>
          <a:xfrm>
            <a:off x="7086600" y="1508760"/>
            <a:ext cx="4572000" cy="4572000"/>
          </a:xfrm>
          <a:prstGeom prst="roundRect">
            <a:avLst>
              <a:gd name="adj" fmla="val 2000"/>
            </a:avLst>
          </a:prstGeom>
          <a:solidFill>
            <a:srgbClr val="1E2761"/>
          </a:solidFill>
          <a:ln/>
        </p:spPr>
        <p:txBody>
          <a:bodyPr/>
          <a:lstStyle/>
          <a:p>
            <a:endParaRPr lang="es-CL"/>
          </a:p>
        </p:txBody>
      </p:sp>
      <p:sp>
        <p:nvSpPr>
          <p:cNvPr id="10" name="Text 8"/>
          <p:cNvSpPr txBox="1"/>
          <p:nvPr/>
        </p:nvSpPr>
        <p:spPr>
          <a:xfrm>
            <a:off x="7406640" y="1783080"/>
            <a:ext cx="3931920" cy="36576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Caracterización del dataset</a:t>
            </a:r>
            <a:endParaRPr lang="en-US" sz="1500" dirty="0"/>
          </a:p>
        </p:txBody>
      </p:sp>
      <p:sp>
        <p:nvSpPr>
          <p:cNvPr id="11" name="Text 9"/>
          <p:cNvSpPr txBox="1"/>
          <p:nvPr/>
        </p:nvSpPr>
        <p:spPr>
          <a:xfrm>
            <a:off x="7406640" y="2286000"/>
            <a:ext cx="3931920" cy="274320"/>
          </a:xfrm>
          <a:prstGeom prst="rect">
            <a:avLst/>
          </a:prstGeom>
          <a:noFill/>
          <a:ln/>
        </p:spPr>
        <p:txBody>
          <a:bodyPr wrap="square" rtlCol="0" anchor="ctr"/>
          <a:lstStyle/>
          <a:p>
            <a:pPr marL="0" indent="0">
              <a:buNone/>
            </a:pPr>
            <a:r>
              <a:rPr lang="en-US" sz="1150" b="1" dirty="0">
                <a:solidFill>
                  <a:srgbClr val="CADCFC"/>
                </a:solidFill>
                <a:latin typeface="Calibri" pitchFamily="34" charset="0"/>
                <a:ea typeface="Calibri" pitchFamily="34" charset="-122"/>
                <a:cs typeface="Calibri" pitchFamily="34" charset="-120"/>
              </a:rPr>
              <a:t>Identificador</a:t>
            </a:r>
            <a:endParaRPr lang="en-US" sz="1150" dirty="0"/>
          </a:p>
        </p:txBody>
      </p:sp>
      <p:sp>
        <p:nvSpPr>
          <p:cNvPr id="12" name="Text 10"/>
          <p:cNvSpPr txBox="1"/>
          <p:nvPr/>
        </p:nvSpPr>
        <p:spPr>
          <a:xfrm>
            <a:off x="7406640" y="2542032"/>
            <a:ext cx="3931920" cy="548640"/>
          </a:xfrm>
          <a:prstGeom prst="rect">
            <a:avLst/>
          </a:prstGeom>
          <a:noFill/>
          <a:ln/>
        </p:spPr>
        <p:txBody>
          <a:bodyPr wrap="square" rtlCol="0" anchor="ctr"/>
          <a:lstStyle/>
          <a:p>
            <a:pPr marL="0" indent="0">
              <a:lnSpc>
                <a:spcPct val="105000"/>
              </a:lnSpc>
              <a:buNone/>
            </a:pPr>
            <a:r>
              <a:rPr lang="en-US" sz="1100" dirty="0">
                <a:solidFill>
                  <a:srgbClr val="C8D2EE"/>
                </a:solidFill>
                <a:latin typeface="Calibri" pitchFamily="34" charset="0"/>
                <a:ea typeface="Calibri" pitchFamily="34" charset="-122"/>
                <a:cs typeface="Calibri" pitchFamily="34" charset="-120"/>
              </a:rPr>
              <a:t>StudentID (no único: 5.000 valores para 5.100 filas)</a:t>
            </a:r>
            <a:endParaRPr lang="en-US" sz="1100" dirty="0"/>
          </a:p>
        </p:txBody>
      </p:sp>
      <p:sp>
        <p:nvSpPr>
          <p:cNvPr id="13" name="Text 11"/>
          <p:cNvSpPr txBox="1"/>
          <p:nvPr/>
        </p:nvSpPr>
        <p:spPr>
          <a:xfrm>
            <a:off x="7406640" y="3154680"/>
            <a:ext cx="3931920" cy="274320"/>
          </a:xfrm>
          <a:prstGeom prst="rect">
            <a:avLst/>
          </a:prstGeom>
          <a:noFill/>
          <a:ln/>
        </p:spPr>
        <p:txBody>
          <a:bodyPr wrap="square" rtlCol="0" anchor="ctr"/>
          <a:lstStyle/>
          <a:p>
            <a:pPr marL="0" indent="0">
              <a:buNone/>
            </a:pPr>
            <a:r>
              <a:rPr lang="en-US" sz="1150" b="1" dirty="0">
                <a:solidFill>
                  <a:srgbClr val="CADCFC"/>
                </a:solidFill>
                <a:latin typeface="Calibri" pitchFamily="34" charset="0"/>
                <a:ea typeface="Calibri" pitchFamily="34" charset="-122"/>
                <a:cs typeface="Calibri" pitchFamily="34" charset="-120"/>
              </a:rPr>
              <a:t>Variable objetivo</a:t>
            </a:r>
            <a:endParaRPr lang="en-US" sz="1150" dirty="0"/>
          </a:p>
        </p:txBody>
      </p:sp>
      <p:sp>
        <p:nvSpPr>
          <p:cNvPr id="14" name="Text 12"/>
          <p:cNvSpPr txBox="1"/>
          <p:nvPr/>
        </p:nvSpPr>
        <p:spPr>
          <a:xfrm>
            <a:off x="7406640" y="3410712"/>
            <a:ext cx="3931920" cy="548640"/>
          </a:xfrm>
          <a:prstGeom prst="rect">
            <a:avLst/>
          </a:prstGeom>
          <a:noFill/>
          <a:ln/>
        </p:spPr>
        <p:txBody>
          <a:bodyPr wrap="square" rtlCol="0" anchor="ctr"/>
          <a:lstStyle/>
          <a:p>
            <a:pPr marL="0" indent="0">
              <a:lnSpc>
                <a:spcPct val="105000"/>
              </a:lnSpc>
              <a:buNone/>
            </a:pPr>
            <a:r>
              <a:rPr lang="en-US" sz="1100" dirty="0">
                <a:solidFill>
                  <a:srgbClr val="C8D2EE"/>
                </a:solidFill>
                <a:latin typeface="Calibri" pitchFamily="34" charset="0"/>
                <a:ea typeface="Calibri" pitchFamily="34" charset="-122"/>
                <a:cs typeface="Calibri" pitchFamily="34" charset="-120"/>
              </a:rPr>
              <a:t>FinalGrade — escala oficial 1.0 a 10.0</a:t>
            </a:r>
            <a:endParaRPr lang="en-US" sz="1100" dirty="0"/>
          </a:p>
        </p:txBody>
      </p:sp>
      <p:sp>
        <p:nvSpPr>
          <p:cNvPr id="15" name="Text 13"/>
          <p:cNvSpPr txBox="1"/>
          <p:nvPr/>
        </p:nvSpPr>
        <p:spPr>
          <a:xfrm>
            <a:off x="7406640" y="4023360"/>
            <a:ext cx="3931920" cy="274320"/>
          </a:xfrm>
          <a:prstGeom prst="rect">
            <a:avLst/>
          </a:prstGeom>
          <a:noFill/>
          <a:ln/>
        </p:spPr>
        <p:txBody>
          <a:bodyPr wrap="square" rtlCol="0" anchor="ctr"/>
          <a:lstStyle/>
          <a:p>
            <a:pPr marL="0" indent="0">
              <a:buNone/>
            </a:pPr>
            <a:r>
              <a:rPr lang="en-US" sz="1150" b="1" dirty="0">
                <a:solidFill>
                  <a:srgbClr val="CADCFC"/>
                </a:solidFill>
                <a:latin typeface="Calibri" pitchFamily="34" charset="0"/>
                <a:ea typeface="Calibri" pitchFamily="34" charset="-122"/>
                <a:cs typeface="Calibri" pitchFamily="34" charset="-120"/>
              </a:rPr>
              <a:t>Variables numéricas (7)</a:t>
            </a:r>
            <a:endParaRPr lang="en-US" sz="1150" dirty="0"/>
          </a:p>
        </p:txBody>
      </p:sp>
      <p:sp>
        <p:nvSpPr>
          <p:cNvPr id="16" name="Text 14"/>
          <p:cNvSpPr txBox="1"/>
          <p:nvPr/>
        </p:nvSpPr>
        <p:spPr>
          <a:xfrm>
            <a:off x="7406640" y="4279392"/>
            <a:ext cx="3931920" cy="548640"/>
          </a:xfrm>
          <a:prstGeom prst="rect">
            <a:avLst/>
          </a:prstGeom>
          <a:noFill/>
          <a:ln/>
        </p:spPr>
        <p:txBody>
          <a:bodyPr wrap="square" rtlCol="0" anchor="ctr"/>
          <a:lstStyle/>
          <a:p>
            <a:pPr marL="0" indent="0">
              <a:lnSpc>
                <a:spcPct val="105000"/>
              </a:lnSpc>
              <a:buNone/>
            </a:pPr>
            <a:r>
              <a:rPr lang="en-US" sz="1100" dirty="0">
                <a:solidFill>
                  <a:srgbClr val="C8D2EE"/>
                </a:solidFill>
                <a:latin typeface="Calibri" pitchFamily="34" charset="0"/>
                <a:ea typeface="Calibri" pitchFamily="34" charset="-122"/>
                <a:cs typeface="Calibri" pitchFamily="34" charset="-120"/>
              </a:rPr>
              <a:t>Age, StudyHours, Attendance, PreviousGPA, AssignmentsCompleted, SleepHours, InternetHours</a:t>
            </a:r>
            <a:endParaRPr lang="en-US" sz="1100" dirty="0"/>
          </a:p>
        </p:txBody>
      </p:sp>
      <p:sp>
        <p:nvSpPr>
          <p:cNvPr id="17" name="Text 15"/>
          <p:cNvSpPr txBox="1"/>
          <p:nvPr/>
        </p:nvSpPr>
        <p:spPr>
          <a:xfrm>
            <a:off x="7406640" y="4892040"/>
            <a:ext cx="3931920" cy="274320"/>
          </a:xfrm>
          <a:prstGeom prst="rect">
            <a:avLst/>
          </a:prstGeom>
          <a:noFill/>
          <a:ln/>
        </p:spPr>
        <p:txBody>
          <a:bodyPr wrap="square" rtlCol="0" anchor="ctr"/>
          <a:lstStyle/>
          <a:p>
            <a:pPr marL="0" indent="0">
              <a:buNone/>
            </a:pPr>
            <a:r>
              <a:rPr lang="en-US" sz="1150" b="1" dirty="0">
                <a:solidFill>
                  <a:srgbClr val="CADCFC"/>
                </a:solidFill>
                <a:latin typeface="Calibri" pitchFamily="34" charset="0"/>
                <a:ea typeface="Calibri" pitchFamily="34" charset="-122"/>
                <a:cs typeface="Calibri" pitchFamily="34" charset="-120"/>
              </a:rPr>
              <a:t>Variables categóricas (2)</a:t>
            </a:r>
            <a:endParaRPr lang="en-US" sz="1150" dirty="0"/>
          </a:p>
        </p:txBody>
      </p:sp>
      <p:sp>
        <p:nvSpPr>
          <p:cNvPr id="18" name="Text 16"/>
          <p:cNvSpPr txBox="1"/>
          <p:nvPr/>
        </p:nvSpPr>
        <p:spPr>
          <a:xfrm>
            <a:off x="7406640" y="5148072"/>
            <a:ext cx="3931920" cy="548640"/>
          </a:xfrm>
          <a:prstGeom prst="rect">
            <a:avLst/>
          </a:prstGeom>
          <a:noFill/>
          <a:ln/>
        </p:spPr>
        <p:txBody>
          <a:bodyPr wrap="square" rtlCol="0" anchor="ctr"/>
          <a:lstStyle/>
          <a:p>
            <a:pPr marL="0" indent="0">
              <a:lnSpc>
                <a:spcPct val="105000"/>
              </a:lnSpc>
              <a:buNone/>
            </a:pPr>
            <a:r>
              <a:rPr lang="en-US" sz="1100" dirty="0">
                <a:solidFill>
                  <a:srgbClr val="C8D2EE"/>
                </a:solidFill>
                <a:latin typeface="Calibri" pitchFamily="34" charset="0"/>
                <a:ea typeface="Calibri" pitchFamily="34" charset="-122"/>
                <a:cs typeface="Calibri" pitchFamily="34" charset="-120"/>
              </a:rPr>
              <a:t>Scholarship (binaria), Program (5 carreras)</a:t>
            </a:r>
            <a:endParaRPr lang="en-US" sz="1100" dirty="0"/>
          </a:p>
        </p:txBody>
      </p:sp>
      <p:sp>
        <p:nvSpPr>
          <p:cNvPr id="19" name="Text 17"/>
          <p:cNvSpPr txBox="1"/>
          <p:nvPr/>
        </p:nvSpPr>
        <p:spPr>
          <a:xfrm>
            <a:off x="457200" y="6473952"/>
            <a:ext cx="8686800" cy="274320"/>
          </a:xfrm>
          <a:prstGeom prst="rect">
            <a:avLst/>
          </a:prstGeom>
          <a:noFill/>
          <a:ln/>
        </p:spPr>
        <p:txBody>
          <a:bodyPr wrap="square" rtlCol="0" anchor="ctr"/>
          <a:lstStyle/>
          <a:p>
            <a:pPr marL="0" indent="0">
              <a:buNone/>
            </a:pPr>
            <a:r>
              <a:rPr lang="en-US" sz="900" dirty="0">
                <a:solidFill>
                  <a:srgbClr val="9AA3B8"/>
                </a:solidFill>
                <a:latin typeface="Calibri" pitchFamily="34" charset="0"/>
                <a:ea typeface="Calibri" pitchFamily="34" charset="-122"/>
                <a:cs typeface="Calibri" pitchFamily="34" charset="-120"/>
              </a:rPr>
              <a:t>Evaluación 1 · Calidad y Preparación de Datos · Rendimiento Académico</a:t>
            </a:r>
            <a:endParaRPr lang="en-US" sz="900" dirty="0"/>
          </a:p>
        </p:txBody>
      </p:sp>
      <p:sp>
        <p:nvSpPr>
          <p:cNvPr id="20" name="Text 18"/>
          <p:cNvSpPr txBox="1"/>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2</a:t>
            </a:r>
            <a:endParaRPr lang="en-US" sz="900" dirty="0"/>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54864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Problemas de calidad detectados</a:t>
            </a:r>
            <a:endParaRPr lang="en-US" sz="3000" dirty="0"/>
          </a:p>
        </p:txBody>
      </p:sp>
      <p:sp>
        <p:nvSpPr>
          <p:cNvPr id="3" name="Text 1"/>
          <p:cNvSpPr txBox="1"/>
          <p:nvPr/>
        </p:nvSpPr>
        <p:spPr>
          <a:xfrm>
            <a:off x="548640" y="960120"/>
            <a:ext cx="11064240" cy="365760"/>
          </a:xfrm>
          <a:prstGeom prst="rect">
            <a:avLst/>
          </a:prstGeom>
          <a:noFill/>
          <a:ln/>
        </p:spPr>
        <p:txBody>
          <a:bodyPr wrap="square" rtlCol="0" anchor="ctr"/>
          <a:lstStyle/>
          <a:p>
            <a:pPr marL="0" indent="0">
              <a:buNone/>
            </a:pPr>
            <a:r>
              <a:rPr lang="en-US" sz="1400" dirty="0">
                <a:solidFill>
                  <a:srgbClr val="4A5568"/>
                </a:solidFill>
                <a:latin typeface="Calibri" pitchFamily="34" charset="0"/>
                <a:ea typeface="Calibri" pitchFamily="34" charset="-122"/>
                <a:cs typeface="Calibri" pitchFamily="34" charset="-120"/>
              </a:rPr>
              <a:t>Diagnóstico sobre el dataset crudo (5.100 registros × 11 variables)</a:t>
            </a:r>
            <a:endParaRPr lang="en-US" sz="1400" dirty="0"/>
          </a:p>
        </p:txBody>
      </p:sp>
      <p:sp>
        <p:nvSpPr>
          <p:cNvPr id="4" name="Shape 2"/>
          <p:cNvSpPr/>
          <p:nvPr/>
        </p:nvSpPr>
        <p:spPr>
          <a:xfrm>
            <a:off x="548640" y="1554480"/>
            <a:ext cx="5440680" cy="1828800"/>
          </a:xfrm>
          <a:prstGeom prst="roundRect">
            <a:avLst>
              <a:gd name="adj" fmla="val 4500"/>
            </a:avLst>
          </a:prstGeom>
          <a:solidFill>
            <a:srgbClr val="F0F3FA"/>
          </a:solidFill>
          <a:ln/>
        </p:spPr>
        <p:txBody>
          <a:bodyPr/>
          <a:lstStyle/>
          <a:p>
            <a:endParaRPr lang="es-CL"/>
          </a:p>
        </p:txBody>
      </p:sp>
      <p:sp>
        <p:nvSpPr>
          <p:cNvPr id="5" name="Shape 3"/>
          <p:cNvSpPr/>
          <p:nvPr/>
        </p:nvSpPr>
        <p:spPr>
          <a:xfrm>
            <a:off x="804672" y="1783080"/>
            <a:ext cx="640080" cy="640080"/>
          </a:xfrm>
          <a:prstGeom prst="ellipse">
            <a:avLst/>
          </a:prstGeom>
          <a:solidFill>
            <a:srgbClr val="5B7FDB"/>
          </a:solidFill>
          <a:ln/>
        </p:spPr>
        <p:txBody>
          <a:bodyPr/>
          <a:lstStyle/>
          <a:p>
            <a:endParaRPr lang="es-CL"/>
          </a:p>
        </p:txBody>
      </p:sp>
      <p:pic>
        <p:nvPicPr>
          <p:cNvPr id="6" name="Image 0" descr="icons/exclamation_circle_white.png"/>
          <p:cNvPicPr>
            <a:picLocks noChangeAspect="1"/>
          </p:cNvPicPr>
          <p:nvPr/>
        </p:nvPicPr>
        <p:blipFill>
          <a:blip r:embed="rId3"/>
          <a:stretch>
            <a:fillRect/>
          </a:stretch>
        </p:blipFill>
        <p:spPr>
          <a:xfrm>
            <a:off x="958291" y="1936699"/>
            <a:ext cx="332842" cy="332842"/>
          </a:xfrm>
          <a:prstGeom prst="rect">
            <a:avLst/>
          </a:prstGeom>
        </p:spPr>
      </p:pic>
      <p:sp>
        <p:nvSpPr>
          <p:cNvPr id="7" name="Text 4"/>
          <p:cNvSpPr txBox="1"/>
          <p:nvPr/>
        </p:nvSpPr>
        <p:spPr>
          <a:xfrm>
            <a:off x="1600200" y="1783080"/>
            <a:ext cx="4114800" cy="36576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Valores faltantes</a:t>
            </a:r>
            <a:endParaRPr lang="en-US" sz="1450" dirty="0"/>
          </a:p>
        </p:txBody>
      </p:sp>
      <p:sp>
        <p:nvSpPr>
          <p:cNvPr id="8" name="Text 5"/>
          <p:cNvSpPr txBox="1"/>
          <p:nvPr/>
        </p:nvSpPr>
        <p:spPr>
          <a:xfrm>
            <a:off x="1600200" y="2130552"/>
            <a:ext cx="4114800" cy="1143000"/>
          </a:xfrm>
          <a:prstGeom prst="rect">
            <a:avLst/>
          </a:prstGeom>
          <a:noFill/>
          <a:ln/>
        </p:spPr>
        <p:txBody>
          <a:bodyPr wrap="square" rtlCol="0" anchor="ctr"/>
          <a:lstStyle/>
          <a:p>
            <a:pPr marL="0" indent="0">
              <a:lnSpc>
                <a:spcPct val="112000"/>
              </a:lnSpc>
              <a:buNone/>
            </a:pPr>
            <a:r>
              <a:rPr lang="en-US" sz="1100" dirty="0">
                <a:solidFill>
                  <a:srgbClr val="4A5568"/>
                </a:solidFill>
                <a:latin typeface="Calibri" pitchFamily="34" charset="0"/>
                <a:ea typeface="Calibri" pitchFamily="34" charset="-122"/>
                <a:cs typeface="Calibri" pitchFamily="34" charset="-120"/>
              </a:rPr>
              <a:t>Entre 1.4% y 4.4% por variable predictora; ninguna variable supera el 5%. Patrón compatible con MCAR.</a:t>
            </a:r>
            <a:endParaRPr lang="en-US" sz="1100" dirty="0"/>
          </a:p>
        </p:txBody>
      </p:sp>
      <p:sp>
        <p:nvSpPr>
          <p:cNvPr id="9" name="Shape 6"/>
          <p:cNvSpPr/>
          <p:nvPr/>
        </p:nvSpPr>
        <p:spPr>
          <a:xfrm>
            <a:off x="6309360" y="1554480"/>
            <a:ext cx="5440680" cy="1828800"/>
          </a:xfrm>
          <a:prstGeom prst="roundRect">
            <a:avLst>
              <a:gd name="adj" fmla="val 4500"/>
            </a:avLst>
          </a:prstGeom>
          <a:solidFill>
            <a:srgbClr val="F0F3FA"/>
          </a:solidFill>
          <a:ln/>
        </p:spPr>
        <p:txBody>
          <a:bodyPr/>
          <a:lstStyle/>
          <a:p>
            <a:endParaRPr lang="es-CL"/>
          </a:p>
        </p:txBody>
      </p:sp>
      <p:sp>
        <p:nvSpPr>
          <p:cNvPr id="10" name="Shape 7"/>
          <p:cNvSpPr/>
          <p:nvPr/>
        </p:nvSpPr>
        <p:spPr>
          <a:xfrm>
            <a:off x="6565392" y="1783080"/>
            <a:ext cx="640080" cy="640080"/>
          </a:xfrm>
          <a:prstGeom prst="ellipse">
            <a:avLst/>
          </a:prstGeom>
          <a:solidFill>
            <a:srgbClr val="3FA796"/>
          </a:solidFill>
          <a:ln/>
        </p:spPr>
        <p:txBody>
          <a:bodyPr/>
          <a:lstStyle/>
          <a:p>
            <a:endParaRPr lang="es-CL"/>
          </a:p>
        </p:txBody>
      </p:sp>
      <p:pic>
        <p:nvPicPr>
          <p:cNvPr id="11" name="Image 1" descr="icons/copy_white.png"/>
          <p:cNvPicPr>
            <a:picLocks noChangeAspect="1"/>
          </p:cNvPicPr>
          <p:nvPr/>
        </p:nvPicPr>
        <p:blipFill>
          <a:blip r:embed="rId4"/>
          <a:stretch>
            <a:fillRect/>
          </a:stretch>
        </p:blipFill>
        <p:spPr>
          <a:xfrm>
            <a:off x="6719011" y="1936699"/>
            <a:ext cx="332842" cy="332842"/>
          </a:xfrm>
          <a:prstGeom prst="rect">
            <a:avLst/>
          </a:prstGeom>
        </p:spPr>
      </p:pic>
      <p:sp>
        <p:nvSpPr>
          <p:cNvPr id="12" name="Text 8"/>
          <p:cNvSpPr txBox="1"/>
          <p:nvPr/>
        </p:nvSpPr>
        <p:spPr>
          <a:xfrm>
            <a:off x="7360920" y="1783080"/>
            <a:ext cx="4114800" cy="36576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Duplicados exactos</a:t>
            </a:r>
            <a:endParaRPr lang="en-US" sz="1450" dirty="0"/>
          </a:p>
        </p:txBody>
      </p:sp>
      <p:sp>
        <p:nvSpPr>
          <p:cNvPr id="13" name="Text 9"/>
          <p:cNvSpPr txBox="1"/>
          <p:nvPr/>
        </p:nvSpPr>
        <p:spPr>
          <a:xfrm>
            <a:off x="7360920" y="2130552"/>
            <a:ext cx="4114800" cy="1143000"/>
          </a:xfrm>
          <a:prstGeom prst="rect">
            <a:avLst/>
          </a:prstGeom>
          <a:noFill/>
          <a:ln/>
        </p:spPr>
        <p:txBody>
          <a:bodyPr wrap="square" rtlCol="0" anchor="ctr"/>
          <a:lstStyle/>
          <a:p>
            <a:pPr marL="0" indent="0">
              <a:lnSpc>
                <a:spcPct val="112000"/>
              </a:lnSpc>
              <a:buNone/>
            </a:pPr>
            <a:r>
              <a:rPr lang="en-US" sz="1100" dirty="0">
                <a:solidFill>
                  <a:srgbClr val="4A5568"/>
                </a:solidFill>
                <a:latin typeface="Calibri" pitchFamily="34" charset="0"/>
                <a:ea typeface="Calibri" pitchFamily="34" charset="-122"/>
                <a:cs typeface="Calibri" pitchFamily="34" charset="-120"/>
              </a:rPr>
              <a:t>100 filas idénticas (2.0% del dataset): reingresos accidentales del mismo estudiante (StudentID repetido).</a:t>
            </a:r>
            <a:endParaRPr lang="en-US" sz="1100" dirty="0"/>
          </a:p>
        </p:txBody>
      </p:sp>
      <p:sp>
        <p:nvSpPr>
          <p:cNvPr id="14" name="Shape 10"/>
          <p:cNvSpPr/>
          <p:nvPr/>
        </p:nvSpPr>
        <p:spPr>
          <a:xfrm>
            <a:off x="548640" y="3611880"/>
            <a:ext cx="5440680" cy="1828800"/>
          </a:xfrm>
          <a:prstGeom prst="roundRect">
            <a:avLst>
              <a:gd name="adj" fmla="val 4500"/>
            </a:avLst>
          </a:prstGeom>
          <a:solidFill>
            <a:srgbClr val="F0F3FA"/>
          </a:solidFill>
          <a:ln/>
        </p:spPr>
        <p:txBody>
          <a:bodyPr/>
          <a:lstStyle/>
          <a:p>
            <a:endParaRPr lang="es-CL"/>
          </a:p>
        </p:txBody>
      </p:sp>
      <p:sp>
        <p:nvSpPr>
          <p:cNvPr id="15" name="Shape 11"/>
          <p:cNvSpPr/>
          <p:nvPr/>
        </p:nvSpPr>
        <p:spPr>
          <a:xfrm>
            <a:off x="804672" y="3840480"/>
            <a:ext cx="640080" cy="640080"/>
          </a:xfrm>
          <a:prstGeom prst="ellipse">
            <a:avLst/>
          </a:prstGeom>
          <a:solidFill>
            <a:srgbClr val="E4572E"/>
          </a:solidFill>
          <a:ln/>
        </p:spPr>
        <p:txBody>
          <a:bodyPr/>
          <a:lstStyle/>
          <a:p>
            <a:endParaRPr lang="es-CL"/>
          </a:p>
        </p:txBody>
      </p:sp>
      <p:pic>
        <p:nvPicPr>
          <p:cNvPr id="16" name="Image 2" descr="icons/exclamation_triangle_white.png"/>
          <p:cNvPicPr>
            <a:picLocks noChangeAspect="1"/>
          </p:cNvPicPr>
          <p:nvPr/>
        </p:nvPicPr>
        <p:blipFill>
          <a:blip r:embed="rId5"/>
          <a:stretch>
            <a:fillRect/>
          </a:stretch>
        </p:blipFill>
        <p:spPr>
          <a:xfrm>
            <a:off x="958291" y="3994099"/>
            <a:ext cx="332842" cy="332842"/>
          </a:xfrm>
          <a:prstGeom prst="rect">
            <a:avLst/>
          </a:prstGeom>
        </p:spPr>
      </p:pic>
      <p:sp>
        <p:nvSpPr>
          <p:cNvPr id="17" name="Text 12"/>
          <p:cNvSpPr txBox="1"/>
          <p:nvPr/>
        </p:nvSpPr>
        <p:spPr>
          <a:xfrm>
            <a:off x="1600200" y="3840480"/>
            <a:ext cx="4114800" cy="36576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Inconsistencias de dominio</a:t>
            </a:r>
            <a:endParaRPr lang="en-US" sz="1450" dirty="0"/>
          </a:p>
        </p:txBody>
      </p:sp>
      <p:sp>
        <p:nvSpPr>
          <p:cNvPr id="18" name="Text 13"/>
          <p:cNvSpPr txBox="1"/>
          <p:nvPr/>
        </p:nvSpPr>
        <p:spPr>
          <a:xfrm>
            <a:off x="1600200" y="4187952"/>
            <a:ext cx="4114800" cy="1143000"/>
          </a:xfrm>
          <a:prstGeom prst="rect">
            <a:avLst/>
          </a:prstGeom>
          <a:noFill/>
          <a:ln/>
        </p:spPr>
        <p:txBody>
          <a:bodyPr wrap="square" rtlCol="0" anchor="ctr"/>
          <a:lstStyle/>
          <a:p>
            <a:pPr marL="0" indent="0">
              <a:lnSpc>
                <a:spcPct val="112000"/>
              </a:lnSpc>
              <a:buNone/>
            </a:pPr>
            <a:r>
              <a:rPr lang="en-US" sz="1100" dirty="0">
                <a:solidFill>
                  <a:srgbClr val="4A5568"/>
                </a:solidFill>
                <a:latin typeface="Calibri" pitchFamily="34" charset="0"/>
                <a:ea typeface="Calibri" pitchFamily="34" charset="-122"/>
                <a:cs typeface="Calibri" pitchFamily="34" charset="-120"/>
              </a:rPr>
              <a:t>59 registros con valores físicamente imposibles: asistencia &lt;0% o &gt;100%, horas de sueño negativas, +24 h de internet en un día; más 4 notas fuera de la escala 1–10.</a:t>
            </a:r>
            <a:endParaRPr lang="en-US" sz="1100" dirty="0"/>
          </a:p>
        </p:txBody>
      </p:sp>
      <p:sp>
        <p:nvSpPr>
          <p:cNvPr id="19" name="Shape 14"/>
          <p:cNvSpPr/>
          <p:nvPr/>
        </p:nvSpPr>
        <p:spPr>
          <a:xfrm>
            <a:off x="6309360" y="3611880"/>
            <a:ext cx="5440680" cy="1828800"/>
          </a:xfrm>
          <a:prstGeom prst="roundRect">
            <a:avLst>
              <a:gd name="adj" fmla="val 4500"/>
            </a:avLst>
          </a:prstGeom>
          <a:solidFill>
            <a:srgbClr val="F0F3FA"/>
          </a:solidFill>
          <a:ln/>
        </p:spPr>
        <p:txBody>
          <a:bodyPr/>
          <a:lstStyle/>
          <a:p>
            <a:endParaRPr lang="es-CL"/>
          </a:p>
        </p:txBody>
      </p:sp>
      <p:sp>
        <p:nvSpPr>
          <p:cNvPr id="20" name="Shape 15"/>
          <p:cNvSpPr/>
          <p:nvPr/>
        </p:nvSpPr>
        <p:spPr>
          <a:xfrm>
            <a:off x="6565392" y="3840480"/>
            <a:ext cx="640080" cy="640080"/>
          </a:xfrm>
          <a:prstGeom prst="ellipse">
            <a:avLst/>
          </a:prstGeom>
          <a:solidFill>
            <a:srgbClr val="8E6FCE"/>
          </a:solidFill>
          <a:ln/>
        </p:spPr>
        <p:txBody>
          <a:bodyPr/>
          <a:lstStyle/>
          <a:p>
            <a:endParaRPr lang="es-CL"/>
          </a:p>
        </p:txBody>
      </p:sp>
      <p:pic>
        <p:nvPicPr>
          <p:cNvPr id="21" name="Image 3" descr="icons/font_white.png"/>
          <p:cNvPicPr>
            <a:picLocks noChangeAspect="1"/>
          </p:cNvPicPr>
          <p:nvPr/>
        </p:nvPicPr>
        <p:blipFill>
          <a:blip r:embed="rId6"/>
          <a:stretch>
            <a:fillRect/>
          </a:stretch>
        </p:blipFill>
        <p:spPr>
          <a:xfrm>
            <a:off x="6719011" y="3994099"/>
            <a:ext cx="332842" cy="332842"/>
          </a:xfrm>
          <a:prstGeom prst="rect">
            <a:avLst/>
          </a:prstGeom>
        </p:spPr>
      </p:pic>
      <p:sp>
        <p:nvSpPr>
          <p:cNvPr id="22" name="Text 16"/>
          <p:cNvSpPr txBox="1"/>
          <p:nvPr/>
        </p:nvSpPr>
        <p:spPr>
          <a:xfrm>
            <a:off x="7360920" y="3840480"/>
            <a:ext cx="4114800" cy="36576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Formato categórico inconsistente</a:t>
            </a:r>
            <a:endParaRPr lang="en-US" sz="1450" dirty="0"/>
          </a:p>
        </p:txBody>
      </p:sp>
      <p:sp>
        <p:nvSpPr>
          <p:cNvPr id="23" name="Text 17"/>
          <p:cNvSpPr txBox="1"/>
          <p:nvPr/>
        </p:nvSpPr>
        <p:spPr>
          <a:xfrm>
            <a:off x="7360920" y="4187952"/>
            <a:ext cx="4114800" cy="1143000"/>
          </a:xfrm>
          <a:prstGeom prst="rect">
            <a:avLst/>
          </a:prstGeom>
          <a:noFill/>
          <a:ln/>
        </p:spPr>
        <p:txBody>
          <a:bodyPr wrap="square" rtlCol="0" anchor="ctr"/>
          <a:lstStyle/>
          <a:p>
            <a:pPr marL="0" indent="0">
              <a:lnSpc>
                <a:spcPct val="112000"/>
              </a:lnSpc>
              <a:buNone/>
            </a:pPr>
            <a:r>
              <a:rPr lang="en-US" sz="1100" dirty="0">
                <a:solidFill>
                  <a:srgbClr val="4A5568"/>
                </a:solidFill>
                <a:latin typeface="Calibri" pitchFamily="34" charset="0"/>
                <a:ea typeface="Calibri" pitchFamily="34" charset="-122"/>
                <a:cs typeface="Calibri" pitchFamily="34" charset="-120"/>
              </a:rPr>
              <a:t>35 registros en Scholarship (7 variantes) y 36 en Program (12 variantes) por tildes, mayúsculas y espacios.</a:t>
            </a:r>
            <a:endParaRPr lang="en-US" sz="1100" dirty="0"/>
          </a:p>
        </p:txBody>
      </p:sp>
      <p:sp>
        <p:nvSpPr>
          <p:cNvPr id="24" name="Shape 18"/>
          <p:cNvSpPr/>
          <p:nvPr/>
        </p:nvSpPr>
        <p:spPr>
          <a:xfrm>
            <a:off x="548640" y="5605272"/>
            <a:ext cx="11109960" cy="566928"/>
          </a:xfrm>
          <a:prstGeom prst="roundRect">
            <a:avLst>
              <a:gd name="adj" fmla="val 11290"/>
            </a:avLst>
          </a:prstGeom>
          <a:solidFill>
            <a:srgbClr val="F4F6FB"/>
          </a:solidFill>
          <a:ln/>
        </p:spPr>
        <p:txBody>
          <a:bodyPr/>
          <a:lstStyle/>
          <a:p>
            <a:endParaRPr lang="es-CL"/>
          </a:p>
        </p:txBody>
      </p:sp>
      <p:sp>
        <p:nvSpPr>
          <p:cNvPr id="25" name="Text 19"/>
          <p:cNvSpPr txBox="1"/>
          <p:nvPr/>
        </p:nvSpPr>
        <p:spPr>
          <a:xfrm>
            <a:off x="777240" y="5605272"/>
            <a:ext cx="10652760" cy="566928"/>
          </a:xfrm>
          <a:prstGeom prst="rect">
            <a:avLst/>
          </a:prstGeom>
          <a:noFill/>
          <a:ln/>
        </p:spPr>
        <p:txBody>
          <a:bodyPr wrap="square" rtlCol="0" anchor="ctr"/>
          <a:lstStyle/>
          <a:p>
            <a:pPr marL="0" indent="0">
              <a:lnSpc>
                <a:spcPct val="110000"/>
              </a:lnSpc>
              <a:buNone/>
            </a:pPr>
            <a:r>
              <a:rPr lang="en-US" sz="1030" b="1" dirty="0">
                <a:solidFill>
                  <a:srgbClr val="1E2761"/>
                </a:solidFill>
                <a:latin typeface="Calibri" pitchFamily="34" charset="0"/>
                <a:ea typeface="Calibri" pitchFamily="34" charset="-122"/>
                <a:cs typeface="Calibri" pitchFamily="34" charset="-120"/>
              </a:rPr>
              <a:t>Nota metodológica: </a:t>
            </a:r>
            <a:r>
              <a:rPr lang="en-US" sz="1030" dirty="0">
                <a:solidFill>
                  <a:srgbClr val="4A5568"/>
                </a:solidFill>
                <a:latin typeface="Calibri" pitchFamily="34" charset="0"/>
                <a:ea typeface="Calibri" pitchFamily="34" charset="-122"/>
                <a:cs typeface="Calibri" pitchFamily="34" charset="-120"/>
              </a:rPr>
              <a:t>StudyHours es una variable semanal (dominio válido [0, 168] h, según Metadata.md), no diaria; se verificó contra ese rango y no presentó violaciones — no forma parte de los problemas de calidad anteriores.</a:t>
            </a:r>
            <a:endParaRPr lang="en-US" sz="1030" dirty="0"/>
          </a:p>
        </p:txBody>
      </p:sp>
      <p:sp>
        <p:nvSpPr>
          <p:cNvPr id="26" name="Text 20"/>
          <p:cNvSpPr txBox="1"/>
          <p:nvPr/>
        </p:nvSpPr>
        <p:spPr>
          <a:xfrm>
            <a:off x="457200" y="6473952"/>
            <a:ext cx="8686800" cy="274320"/>
          </a:xfrm>
          <a:prstGeom prst="rect">
            <a:avLst/>
          </a:prstGeom>
          <a:noFill/>
          <a:ln/>
        </p:spPr>
        <p:txBody>
          <a:bodyPr wrap="square" rtlCol="0" anchor="ctr"/>
          <a:lstStyle/>
          <a:p>
            <a:pPr marL="0" indent="0">
              <a:buNone/>
            </a:pPr>
            <a:r>
              <a:rPr lang="en-US" sz="900" dirty="0">
                <a:solidFill>
                  <a:srgbClr val="9AA3B8"/>
                </a:solidFill>
                <a:latin typeface="Calibri" pitchFamily="34" charset="0"/>
                <a:ea typeface="Calibri" pitchFamily="34" charset="-122"/>
                <a:cs typeface="Calibri" pitchFamily="34" charset="-120"/>
              </a:rPr>
              <a:t>Evaluación 1 · Calidad y Preparación de Datos · Rendimiento Académico</a:t>
            </a:r>
            <a:endParaRPr lang="en-US" sz="900" dirty="0"/>
          </a:p>
        </p:txBody>
      </p:sp>
      <p:sp>
        <p:nvSpPr>
          <p:cNvPr id="27" name="Text 21"/>
          <p:cNvSpPr txBox="1"/>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3</a:t>
            </a:r>
            <a:endParaRPr lang="en-US" sz="900" dirty="0"/>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54864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Valores atípicos (outliers)</a:t>
            </a:r>
            <a:endParaRPr lang="en-US" sz="3000" dirty="0"/>
          </a:p>
        </p:txBody>
      </p:sp>
      <p:sp>
        <p:nvSpPr>
          <p:cNvPr id="3" name="Text 1"/>
          <p:cNvSpPr txBox="1"/>
          <p:nvPr/>
        </p:nvSpPr>
        <p:spPr>
          <a:xfrm>
            <a:off x="548640" y="960120"/>
            <a:ext cx="11064240" cy="365760"/>
          </a:xfrm>
          <a:prstGeom prst="rect">
            <a:avLst/>
          </a:prstGeom>
          <a:noFill/>
          <a:ln/>
        </p:spPr>
        <p:txBody>
          <a:bodyPr wrap="square" rtlCol="0" anchor="ctr"/>
          <a:lstStyle/>
          <a:p>
            <a:pPr marL="0" indent="0">
              <a:buNone/>
            </a:pPr>
            <a:r>
              <a:rPr lang="en-US" sz="1400" dirty="0">
                <a:solidFill>
                  <a:srgbClr val="4A5568"/>
                </a:solidFill>
                <a:latin typeface="Calibri" pitchFamily="34" charset="0"/>
                <a:ea typeface="Calibri" pitchFamily="34" charset="-122"/>
                <a:cs typeface="Calibri" pitchFamily="34" charset="-120"/>
              </a:rPr>
              <a:t>Método del Rango Intercuartílico (IQR) sobre las variables numéricas</a:t>
            </a:r>
            <a:endParaRPr lang="en-US" sz="1400" dirty="0"/>
          </a:p>
        </p:txBody>
      </p:sp>
      <p:sp>
        <p:nvSpPr>
          <p:cNvPr id="4" name="Shape 2"/>
          <p:cNvSpPr/>
          <p:nvPr/>
        </p:nvSpPr>
        <p:spPr>
          <a:xfrm>
            <a:off x="548640" y="1554480"/>
            <a:ext cx="6675120" cy="4526280"/>
          </a:xfrm>
          <a:prstGeom prst="roundRect">
            <a:avLst>
              <a:gd name="adj" fmla="val 2020"/>
            </a:avLst>
          </a:prstGeom>
          <a:solidFill>
            <a:srgbClr val="F0F3FA"/>
          </a:solidFill>
          <a:ln/>
        </p:spPr>
        <p:txBody>
          <a:bodyPr/>
          <a:lstStyle/>
          <a:p>
            <a:endParaRPr lang="es-CL"/>
          </a:p>
        </p:txBody>
      </p:sp>
      <p:sp>
        <p:nvSpPr>
          <p:cNvPr id="5" name="Text 3"/>
          <p:cNvSpPr txBox="1"/>
          <p:nvPr/>
        </p:nvSpPr>
        <p:spPr>
          <a:xfrm>
            <a:off x="868680" y="1828800"/>
            <a:ext cx="6035040" cy="36576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¿Extremo válido o valor inválido?</a:t>
            </a:r>
            <a:endParaRPr lang="en-US" sz="1600" dirty="0"/>
          </a:p>
        </p:txBody>
      </p:sp>
      <p:sp>
        <p:nvSpPr>
          <p:cNvPr id="6" name="Text 4"/>
          <p:cNvSpPr txBox="1"/>
          <p:nvPr/>
        </p:nvSpPr>
        <p:spPr>
          <a:xfrm>
            <a:off x="868680" y="2240280"/>
            <a:ext cx="6035040" cy="1188720"/>
          </a:xfrm>
          <a:prstGeom prst="rect">
            <a:avLst/>
          </a:prstGeom>
          <a:noFill/>
          <a:ln/>
        </p:spPr>
        <p:txBody>
          <a:bodyPr wrap="square" rtlCol="0" anchor="ctr"/>
          <a:lstStyle/>
          <a:p>
            <a:pPr marL="0" indent="0">
              <a:lnSpc>
                <a:spcPct val="115000"/>
              </a:lnSpc>
              <a:buNone/>
            </a:pPr>
            <a:r>
              <a:rPr lang="en-US" sz="1250" dirty="0">
                <a:solidFill>
                  <a:srgbClr val="4A5568"/>
                </a:solidFill>
                <a:latin typeface="Calibri" pitchFamily="34" charset="0"/>
                <a:ea typeface="Calibri" pitchFamily="34" charset="-122"/>
                <a:cs typeface="Calibri" pitchFamily="34" charset="-120"/>
              </a:rPr>
              <a:t>El límite IQR (Q1 − 1.5·IQR, Q3 + 1.5·IQR) se aplicó a las 7 variables numéricas y a FinalGrade usando boxplots como evidencia gráfica. Antes de tratar los outliers, se corrigieron los valores de dominio inválidos (sección anterior): un valor físicamente imposible también aparece como estadísticamente extremo, por lo que ambos fenómenos deben separarse.</a:t>
            </a:r>
            <a:endParaRPr lang="en-US" sz="1250" dirty="0"/>
          </a:p>
        </p:txBody>
      </p:sp>
      <p:sp>
        <p:nvSpPr>
          <p:cNvPr id="7" name="Text 5"/>
          <p:cNvSpPr txBox="1"/>
          <p:nvPr/>
        </p:nvSpPr>
        <p:spPr>
          <a:xfrm>
            <a:off x="868680" y="3520440"/>
            <a:ext cx="6035040" cy="2377440"/>
          </a:xfrm>
          <a:prstGeom prst="rect">
            <a:avLst/>
          </a:prstGeom>
          <a:noFill/>
          <a:ln/>
        </p:spPr>
        <p:txBody>
          <a:bodyPr wrap="square" rtlCol="0" anchor="ctr"/>
          <a:lstStyle/>
          <a:p>
            <a:pPr marL="342900" indent="-342900">
              <a:spcAft>
                <a:spcPts val="1000"/>
              </a:spcAft>
              <a:buSzPct val="100000"/>
              <a:buChar char="•"/>
            </a:pPr>
            <a:r>
              <a:rPr lang="en-US" sz="1200" dirty="0">
                <a:solidFill>
                  <a:srgbClr val="4A5568"/>
                </a:solidFill>
                <a:latin typeface="Calibri" pitchFamily="34" charset="0"/>
                <a:ea typeface="Calibri" pitchFamily="34" charset="-122"/>
                <a:cs typeface="Calibri" pitchFamily="34" charset="-120"/>
              </a:rPr>
              <a:t>Edad y horas de internet: colas largas de valores altos pero plausibles (estudiantes mayores, alto consumo) → outliers estadísticos genuinos.</a:t>
            </a:r>
            <a:endParaRPr lang="en-US" sz="1200" dirty="0"/>
          </a:p>
          <a:p>
            <a:pPr marL="342900" indent="-342900">
              <a:spcAft>
                <a:spcPts val="1000"/>
              </a:spcAft>
              <a:buSzPct val="100000"/>
              <a:buChar char="•"/>
            </a:pPr>
            <a:r>
              <a:rPr lang="en-US" sz="1200" dirty="0">
                <a:solidFill>
                  <a:srgbClr val="4A5568"/>
                </a:solidFill>
                <a:latin typeface="Calibri" pitchFamily="34" charset="0"/>
                <a:ea typeface="Calibri" pitchFamily="34" charset="-122"/>
                <a:cs typeface="Calibri" pitchFamily="34" charset="-120"/>
              </a:rPr>
              <a:t>FinalGrade fuera de [1.0, 10.0]: inválido de dominio, no un outlier estadístico → tratado como error de captura (sección 2.4).</a:t>
            </a:r>
            <a:endParaRPr lang="en-US" sz="1200" dirty="0"/>
          </a:p>
          <a:p>
            <a:pPr marL="342900" indent="-342900">
              <a:spcAft>
                <a:spcPts val="1000"/>
              </a:spcAft>
              <a:buSzPct val="100000"/>
              <a:buChar char="•"/>
            </a:pPr>
            <a:r>
              <a:rPr lang="en-US" sz="1200" dirty="0">
                <a:solidFill>
                  <a:srgbClr val="4A5568"/>
                </a:solidFill>
                <a:latin typeface="Calibri" pitchFamily="34" charset="0"/>
                <a:ea typeface="Calibri" pitchFamily="34" charset="-122"/>
                <a:cs typeface="Calibri" pitchFamily="34" charset="-120"/>
              </a:rPr>
              <a:t>Estrategia: winsorizar (capar) los valores extremos válidos a los límites IQR, sin eliminar al estudiante ni el resto de su información.</a:t>
            </a:r>
            <a:endParaRPr lang="en-US" sz="1200" dirty="0"/>
          </a:p>
        </p:txBody>
      </p:sp>
      <p:sp>
        <p:nvSpPr>
          <p:cNvPr id="8" name="Shape 6"/>
          <p:cNvSpPr/>
          <p:nvPr/>
        </p:nvSpPr>
        <p:spPr>
          <a:xfrm>
            <a:off x="7452360" y="1554480"/>
            <a:ext cx="4206240" cy="4526280"/>
          </a:xfrm>
          <a:prstGeom prst="roundRect">
            <a:avLst>
              <a:gd name="adj" fmla="val 2174"/>
            </a:avLst>
          </a:prstGeom>
          <a:solidFill>
            <a:srgbClr val="1E2761"/>
          </a:solidFill>
          <a:ln/>
        </p:spPr>
        <p:txBody>
          <a:bodyPr/>
          <a:lstStyle/>
          <a:p>
            <a:endParaRPr lang="es-CL"/>
          </a:p>
        </p:txBody>
      </p:sp>
      <p:sp>
        <p:nvSpPr>
          <p:cNvPr id="9" name="Shape 7"/>
          <p:cNvSpPr/>
          <p:nvPr/>
        </p:nvSpPr>
        <p:spPr>
          <a:xfrm>
            <a:off x="9052560" y="1874520"/>
            <a:ext cx="1005840" cy="1005840"/>
          </a:xfrm>
          <a:prstGeom prst="ellipse">
            <a:avLst/>
          </a:prstGeom>
          <a:solidFill>
            <a:srgbClr val="5B7FDB"/>
          </a:solidFill>
          <a:ln/>
        </p:spPr>
        <p:txBody>
          <a:bodyPr/>
          <a:lstStyle/>
          <a:p>
            <a:endParaRPr lang="es-CL"/>
          </a:p>
        </p:txBody>
      </p:sp>
      <p:pic>
        <p:nvPicPr>
          <p:cNvPr id="10" name="Image 0" descr="icons/chart_bar_white.png"/>
          <p:cNvPicPr>
            <a:picLocks noChangeAspect="1"/>
          </p:cNvPicPr>
          <p:nvPr/>
        </p:nvPicPr>
        <p:blipFill>
          <a:blip r:embed="rId3"/>
          <a:stretch>
            <a:fillRect/>
          </a:stretch>
        </p:blipFill>
        <p:spPr>
          <a:xfrm>
            <a:off x="9293962" y="2115922"/>
            <a:ext cx="523037" cy="523037"/>
          </a:xfrm>
          <a:prstGeom prst="rect">
            <a:avLst/>
          </a:prstGeom>
        </p:spPr>
      </p:pic>
      <p:sp>
        <p:nvSpPr>
          <p:cNvPr id="11" name="Text 8"/>
          <p:cNvSpPr txBox="1"/>
          <p:nvPr/>
        </p:nvSpPr>
        <p:spPr>
          <a:xfrm>
            <a:off x="7452360" y="3063240"/>
            <a:ext cx="4206240" cy="822960"/>
          </a:xfrm>
          <a:prstGeom prst="rect">
            <a:avLst/>
          </a:prstGeom>
          <a:noFill/>
          <a:ln/>
        </p:spPr>
        <p:txBody>
          <a:bodyPr wrap="square" rtlCol="0" anchor="ctr"/>
          <a:lstStyle/>
          <a:p>
            <a:pPr marL="0" indent="0" algn="ctr">
              <a:buNone/>
            </a:pPr>
            <a:r>
              <a:rPr lang="en-US" sz="5000" b="1" dirty="0">
                <a:solidFill>
                  <a:srgbClr val="FFFFFF"/>
                </a:solidFill>
                <a:latin typeface="Cambria" pitchFamily="34" charset="0"/>
                <a:ea typeface="Cambria" pitchFamily="34" charset="-122"/>
                <a:cs typeface="Cambria" pitchFamily="34" charset="-120"/>
              </a:rPr>
              <a:t>393</a:t>
            </a:r>
            <a:endParaRPr lang="en-US" sz="5000" dirty="0"/>
          </a:p>
        </p:txBody>
      </p:sp>
      <p:sp>
        <p:nvSpPr>
          <p:cNvPr id="12" name="Text 9"/>
          <p:cNvSpPr txBox="1"/>
          <p:nvPr/>
        </p:nvSpPr>
        <p:spPr>
          <a:xfrm>
            <a:off x="7635240" y="3886200"/>
            <a:ext cx="3840480" cy="548640"/>
          </a:xfrm>
          <a:prstGeom prst="rect">
            <a:avLst/>
          </a:prstGeom>
          <a:noFill/>
          <a:ln/>
        </p:spPr>
        <p:txBody>
          <a:bodyPr wrap="square" rtlCol="0" anchor="ctr"/>
          <a:lstStyle/>
          <a:p>
            <a:pPr marL="0" indent="0" algn="ctr">
              <a:buNone/>
            </a:pPr>
            <a:r>
              <a:rPr lang="en-US" sz="1100" b="1" kern="0" spc="100" dirty="0">
                <a:solidFill>
                  <a:srgbClr val="CADCFC"/>
                </a:solidFill>
                <a:latin typeface="Calibri" pitchFamily="34" charset="0"/>
                <a:ea typeface="Calibri" pitchFamily="34" charset="-122"/>
                <a:cs typeface="Calibri" pitchFamily="34" charset="-120"/>
              </a:rPr>
              <a:t>REGISTROS CON AL MENOS</a:t>
            </a:r>
            <a:endParaRPr lang="en-US" sz="1100" dirty="0"/>
          </a:p>
          <a:p>
            <a:pPr marL="0" indent="0" algn="ctr">
              <a:buNone/>
            </a:pPr>
            <a:r>
              <a:rPr lang="en-US" sz="1100" b="1" kern="0" spc="100" dirty="0">
                <a:solidFill>
                  <a:srgbClr val="CADCFC"/>
                </a:solidFill>
                <a:latin typeface="Calibri" pitchFamily="34" charset="0"/>
                <a:ea typeface="Calibri" pitchFamily="34" charset="-122"/>
                <a:cs typeface="Calibri" pitchFamily="34" charset="-120"/>
              </a:rPr>
              <a:t>UN VALOR CAPADO POR IQR</a:t>
            </a:r>
            <a:endParaRPr lang="en-US" sz="1100" dirty="0"/>
          </a:p>
        </p:txBody>
      </p:sp>
      <p:sp>
        <p:nvSpPr>
          <p:cNvPr id="13" name="Shape 10"/>
          <p:cNvSpPr/>
          <p:nvPr/>
        </p:nvSpPr>
        <p:spPr>
          <a:xfrm>
            <a:off x="7863840" y="4617720"/>
            <a:ext cx="3383280" cy="0"/>
          </a:xfrm>
          <a:prstGeom prst="line">
            <a:avLst/>
          </a:prstGeom>
          <a:noFill/>
          <a:ln w="12700">
            <a:solidFill>
              <a:srgbClr val="3A4590"/>
            </a:solidFill>
            <a:prstDash val="solid"/>
          </a:ln>
        </p:spPr>
        <p:txBody>
          <a:bodyPr/>
          <a:lstStyle/>
          <a:p>
            <a:endParaRPr lang="es-CL"/>
          </a:p>
        </p:txBody>
      </p:sp>
      <p:sp>
        <p:nvSpPr>
          <p:cNvPr id="14" name="Text 11"/>
          <p:cNvSpPr txBox="1"/>
          <p:nvPr/>
        </p:nvSpPr>
        <p:spPr>
          <a:xfrm>
            <a:off x="7680960" y="4800600"/>
            <a:ext cx="3749040" cy="1097280"/>
          </a:xfrm>
          <a:prstGeom prst="rect">
            <a:avLst/>
          </a:prstGeom>
          <a:noFill/>
          <a:ln/>
        </p:spPr>
        <p:txBody>
          <a:bodyPr wrap="square" rtlCol="0" anchor="ctr"/>
          <a:lstStyle/>
          <a:p>
            <a:pPr marL="0" indent="0" algn="ctr">
              <a:lnSpc>
                <a:spcPct val="115000"/>
              </a:lnSpc>
              <a:buNone/>
            </a:pPr>
            <a:r>
              <a:rPr lang="en-US" sz="1050" dirty="0">
                <a:solidFill>
                  <a:srgbClr val="C8D2EE"/>
                </a:solidFill>
                <a:latin typeface="Calibri" pitchFamily="34" charset="0"/>
                <a:ea typeface="Calibri" pitchFamily="34" charset="-122"/>
                <a:cs typeface="Calibri" pitchFamily="34" charset="-120"/>
              </a:rPr>
              <a:t>Boxplots por variable numérica evidencian colas largas en Age e InternetHours; el resto muestra distribuciones más simétricas.</a:t>
            </a:r>
            <a:endParaRPr lang="en-US" sz="1050" dirty="0"/>
          </a:p>
        </p:txBody>
      </p:sp>
      <p:sp>
        <p:nvSpPr>
          <p:cNvPr id="15" name="Text 12"/>
          <p:cNvSpPr txBox="1"/>
          <p:nvPr/>
        </p:nvSpPr>
        <p:spPr>
          <a:xfrm>
            <a:off x="457200" y="6473952"/>
            <a:ext cx="8686800" cy="274320"/>
          </a:xfrm>
          <a:prstGeom prst="rect">
            <a:avLst/>
          </a:prstGeom>
          <a:noFill/>
          <a:ln/>
        </p:spPr>
        <p:txBody>
          <a:bodyPr wrap="square" rtlCol="0" anchor="ctr"/>
          <a:lstStyle/>
          <a:p>
            <a:pPr marL="0" indent="0">
              <a:buNone/>
            </a:pPr>
            <a:r>
              <a:rPr lang="en-US" sz="900" dirty="0">
                <a:solidFill>
                  <a:srgbClr val="9AA3B8"/>
                </a:solidFill>
                <a:latin typeface="Calibri" pitchFamily="34" charset="0"/>
                <a:ea typeface="Calibri" pitchFamily="34" charset="-122"/>
                <a:cs typeface="Calibri" pitchFamily="34" charset="-120"/>
              </a:rPr>
              <a:t>Evaluación 1 · Calidad y Preparación de Datos · Rendimiento Académico</a:t>
            </a:r>
            <a:endParaRPr lang="en-US" sz="900" dirty="0"/>
          </a:p>
        </p:txBody>
      </p:sp>
      <p:sp>
        <p:nvSpPr>
          <p:cNvPr id="16" name="Text 13"/>
          <p:cNvSpPr txBox="1"/>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4</a:t>
            </a:r>
            <a:endParaRPr lang="en-US" sz="900" dirty="0"/>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54864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Análisis exploratorio: distribuciones y correlaciones</a:t>
            </a:r>
            <a:endParaRPr lang="en-US" sz="3000" dirty="0"/>
          </a:p>
        </p:txBody>
      </p:sp>
      <p:sp>
        <p:nvSpPr>
          <p:cNvPr id="3" name="Text 1"/>
          <p:cNvSpPr txBox="1"/>
          <p:nvPr/>
        </p:nvSpPr>
        <p:spPr>
          <a:xfrm>
            <a:off x="548640" y="960120"/>
            <a:ext cx="11064240" cy="365760"/>
          </a:xfrm>
          <a:prstGeom prst="rect">
            <a:avLst/>
          </a:prstGeom>
          <a:noFill/>
          <a:ln/>
        </p:spPr>
        <p:txBody>
          <a:bodyPr wrap="square" rtlCol="0" anchor="ctr"/>
          <a:lstStyle/>
          <a:p>
            <a:pPr marL="0" indent="0">
              <a:buNone/>
            </a:pPr>
            <a:r>
              <a:rPr lang="en-US" sz="1400" dirty="0">
                <a:solidFill>
                  <a:srgbClr val="4A5568"/>
                </a:solidFill>
                <a:latin typeface="Calibri" pitchFamily="34" charset="0"/>
                <a:ea typeface="Calibri" pitchFamily="34" charset="-122"/>
                <a:cs typeface="Calibri" pitchFamily="34" charset="-120"/>
              </a:rPr>
              <a:t>Comportamiento de FinalGrade y su relación con las variables numéricas</a:t>
            </a:r>
            <a:endParaRPr lang="en-US" sz="1400" dirty="0"/>
          </a:p>
        </p:txBody>
      </p:sp>
      <p:sp>
        <p:nvSpPr>
          <p:cNvPr id="4" name="Shape 2"/>
          <p:cNvSpPr/>
          <p:nvPr/>
        </p:nvSpPr>
        <p:spPr>
          <a:xfrm>
            <a:off x="548640" y="1554480"/>
            <a:ext cx="4114800" cy="4526280"/>
          </a:xfrm>
          <a:prstGeom prst="roundRect">
            <a:avLst>
              <a:gd name="adj" fmla="val 2222"/>
            </a:avLst>
          </a:prstGeom>
          <a:solidFill>
            <a:srgbClr val="F0F3FA"/>
          </a:solidFill>
          <a:ln/>
        </p:spPr>
        <p:txBody>
          <a:bodyPr/>
          <a:lstStyle/>
          <a:p>
            <a:endParaRPr lang="es-CL"/>
          </a:p>
        </p:txBody>
      </p:sp>
      <p:sp>
        <p:nvSpPr>
          <p:cNvPr id="5" name="Text 3"/>
          <p:cNvSpPr txBox="1"/>
          <p:nvPr/>
        </p:nvSpPr>
        <p:spPr>
          <a:xfrm>
            <a:off x="822960" y="1783080"/>
            <a:ext cx="3566160" cy="36576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Distribución de FinalGrade</a:t>
            </a:r>
            <a:endParaRPr lang="en-US" sz="1450" dirty="0"/>
          </a:p>
        </p:txBody>
      </p:sp>
      <p:sp>
        <p:nvSpPr>
          <p:cNvPr id="6" name="Text 4"/>
          <p:cNvSpPr txBox="1"/>
          <p:nvPr/>
        </p:nvSpPr>
        <p:spPr>
          <a:xfrm>
            <a:off x="822960" y="2286000"/>
            <a:ext cx="2377440" cy="320040"/>
          </a:xfrm>
          <a:prstGeom prst="rect">
            <a:avLst/>
          </a:prstGeom>
          <a:noFill/>
          <a:ln/>
        </p:spPr>
        <p:txBody>
          <a:bodyPr wrap="square" rtlCol="0" anchor="ctr"/>
          <a:lstStyle/>
          <a:p>
            <a:pPr marL="0" indent="0">
              <a:buNone/>
            </a:pPr>
            <a:r>
              <a:rPr lang="en-US" sz="1200" dirty="0">
                <a:solidFill>
                  <a:srgbClr val="4A5568"/>
                </a:solidFill>
                <a:latin typeface="Calibri" pitchFamily="34" charset="0"/>
                <a:ea typeface="Calibri" pitchFamily="34" charset="-122"/>
                <a:cs typeface="Calibri" pitchFamily="34" charset="-120"/>
              </a:rPr>
              <a:t>Media</a:t>
            </a:r>
            <a:endParaRPr lang="en-US" sz="1200" dirty="0"/>
          </a:p>
        </p:txBody>
      </p:sp>
      <p:sp>
        <p:nvSpPr>
          <p:cNvPr id="7" name="Text 5"/>
          <p:cNvSpPr txBox="1"/>
          <p:nvPr/>
        </p:nvSpPr>
        <p:spPr>
          <a:xfrm>
            <a:off x="3017520" y="2286000"/>
            <a:ext cx="1463040" cy="320040"/>
          </a:xfrm>
          <a:prstGeom prst="rect">
            <a:avLst/>
          </a:prstGeom>
          <a:noFill/>
          <a:ln/>
        </p:spPr>
        <p:txBody>
          <a:bodyPr wrap="square" rtlCol="0" anchor="ctr"/>
          <a:lstStyle/>
          <a:p>
            <a:pPr marL="0" indent="0" algn="r">
              <a:buNone/>
            </a:pPr>
            <a:r>
              <a:rPr lang="en-US" sz="1300" b="1" dirty="0">
                <a:solidFill>
                  <a:srgbClr val="1E2761"/>
                </a:solidFill>
                <a:latin typeface="Calibri" pitchFamily="34" charset="0"/>
                <a:ea typeface="Calibri" pitchFamily="34" charset="-122"/>
                <a:cs typeface="Calibri" pitchFamily="34" charset="-120"/>
              </a:rPr>
              <a:t>4.17</a:t>
            </a:r>
            <a:endParaRPr lang="en-US" sz="1300" dirty="0"/>
          </a:p>
        </p:txBody>
      </p:sp>
      <p:sp>
        <p:nvSpPr>
          <p:cNvPr id="8" name="Text 6"/>
          <p:cNvSpPr txBox="1"/>
          <p:nvPr/>
        </p:nvSpPr>
        <p:spPr>
          <a:xfrm>
            <a:off x="822960" y="2697480"/>
            <a:ext cx="2377440" cy="320040"/>
          </a:xfrm>
          <a:prstGeom prst="rect">
            <a:avLst/>
          </a:prstGeom>
          <a:noFill/>
          <a:ln/>
        </p:spPr>
        <p:txBody>
          <a:bodyPr wrap="square" rtlCol="0" anchor="ctr"/>
          <a:lstStyle/>
          <a:p>
            <a:pPr marL="0" indent="0">
              <a:buNone/>
            </a:pPr>
            <a:r>
              <a:rPr lang="en-US" sz="1200" dirty="0">
                <a:solidFill>
                  <a:srgbClr val="4A5568"/>
                </a:solidFill>
                <a:latin typeface="Calibri" pitchFamily="34" charset="0"/>
                <a:ea typeface="Calibri" pitchFamily="34" charset="-122"/>
                <a:cs typeface="Calibri" pitchFamily="34" charset="-120"/>
              </a:rPr>
              <a:t>Mediana</a:t>
            </a:r>
            <a:endParaRPr lang="en-US" sz="1200" dirty="0"/>
          </a:p>
        </p:txBody>
      </p:sp>
      <p:sp>
        <p:nvSpPr>
          <p:cNvPr id="9" name="Text 7"/>
          <p:cNvSpPr txBox="1"/>
          <p:nvPr/>
        </p:nvSpPr>
        <p:spPr>
          <a:xfrm>
            <a:off x="3017520" y="2697480"/>
            <a:ext cx="1463040" cy="320040"/>
          </a:xfrm>
          <a:prstGeom prst="rect">
            <a:avLst/>
          </a:prstGeom>
          <a:noFill/>
          <a:ln/>
        </p:spPr>
        <p:txBody>
          <a:bodyPr wrap="square" rtlCol="0" anchor="ctr"/>
          <a:lstStyle/>
          <a:p>
            <a:pPr marL="0" indent="0" algn="r">
              <a:buNone/>
            </a:pPr>
            <a:r>
              <a:rPr lang="en-US" sz="1300" b="1" dirty="0">
                <a:solidFill>
                  <a:srgbClr val="1E2761"/>
                </a:solidFill>
                <a:latin typeface="Calibri" pitchFamily="34" charset="0"/>
                <a:ea typeface="Calibri" pitchFamily="34" charset="-122"/>
                <a:cs typeface="Calibri" pitchFamily="34" charset="-120"/>
              </a:rPr>
              <a:t>4.23</a:t>
            </a:r>
            <a:endParaRPr lang="en-US" sz="1300" dirty="0"/>
          </a:p>
        </p:txBody>
      </p:sp>
      <p:sp>
        <p:nvSpPr>
          <p:cNvPr id="10" name="Text 8"/>
          <p:cNvSpPr txBox="1"/>
          <p:nvPr/>
        </p:nvSpPr>
        <p:spPr>
          <a:xfrm>
            <a:off x="822960" y="3108960"/>
            <a:ext cx="2377440" cy="320040"/>
          </a:xfrm>
          <a:prstGeom prst="rect">
            <a:avLst/>
          </a:prstGeom>
          <a:noFill/>
          <a:ln/>
        </p:spPr>
        <p:txBody>
          <a:bodyPr wrap="square" rtlCol="0" anchor="ctr"/>
          <a:lstStyle/>
          <a:p>
            <a:pPr marL="0" indent="0">
              <a:buNone/>
            </a:pPr>
            <a:r>
              <a:rPr lang="en-US" sz="1200" dirty="0">
                <a:solidFill>
                  <a:srgbClr val="4A5568"/>
                </a:solidFill>
                <a:latin typeface="Calibri" pitchFamily="34" charset="0"/>
                <a:ea typeface="Calibri" pitchFamily="34" charset="-122"/>
                <a:cs typeface="Calibri" pitchFamily="34" charset="-120"/>
              </a:rPr>
              <a:t>Rango intercuartílico</a:t>
            </a:r>
            <a:endParaRPr lang="en-US" sz="1200" dirty="0"/>
          </a:p>
        </p:txBody>
      </p:sp>
      <p:sp>
        <p:nvSpPr>
          <p:cNvPr id="11" name="Text 9"/>
          <p:cNvSpPr txBox="1"/>
          <p:nvPr/>
        </p:nvSpPr>
        <p:spPr>
          <a:xfrm>
            <a:off x="3017520" y="3108960"/>
            <a:ext cx="1463040" cy="320040"/>
          </a:xfrm>
          <a:prstGeom prst="rect">
            <a:avLst/>
          </a:prstGeom>
          <a:noFill/>
          <a:ln/>
        </p:spPr>
        <p:txBody>
          <a:bodyPr wrap="square" rtlCol="0" anchor="ctr"/>
          <a:lstStyle/>
          <a:p>
            <a:pPr marL="0" indent="0" algn="r">
              <a:buNone/>
            </a:pPr>
            <a:r>
              <a:rPr lang="en-US" sz="1300" b="1" dirty="0">
                <a:solidFill>
                  <a:srgbClr val="1E2761"/>
                </a:solidFill>
                <a:latin typeface="Calibri" pitchFamily="34" charset="0"/>
                <a:ea typeface="Calibri" pitchFamily="34" charset="-122"/>
                <a:cs typeface="Calibri" pitchFamily="34" charset="-120"/>
              </a:rPr>
              <a:t>3.51 – 4.86</a:t>
            </a:r>
            <a:endParaRPr lang="en-US" sz="1300" dirty="0"/>
          </a:p>
        </p:txBody>
      </p:sp>
      <p:sp>
        <p:nvSpPr>
          <p:cNvPr id="12" name="Text 10"/>
          <p:cNvSpPr txBox="1"/>
          <p:nvPr/>
        </p:nvSpPr>
        <p:spPr>
          <a:xfrm>
            <a:off x="822960" y="3657600"/>
            <a:ext cx="3566160" cy="822960"/>
          </a:xfrm>
          <a:prstGeom prst="rect">
            <a:avLst/>
          </a:prstGeom>
          <a:noFill/>
          <a:ln/>
        </p:spPr>
        <p:txBody>
          <a:bodyPr wrap="square" rtlCol="0" anchor="ctr"/>
          <a:lstStyle/>
          <a:p>
            <a:pPr marL="0" indent="0">
              <a:lnSpc>
                <a:spcPct val="115000"/>
              </a:lnSpc>
              <a:buNone/>
            </a:pPr>
            <a:r>
              <a:rPr lang="en-US" sz="1150" i="1" dirty="0">
                <a:solidFill>
                  <a:srgbClr val="4A5568"/>
                </a:solidFill>
                <a:latin typeface="Calibri" pitchFamily="34" charset="0"/>
                <a:ea typeface="Calibri" pitchFamily="34" charset="-122"/>
                <a:cs typeface="Calibri" pitchFamily="34" charset="-120"/>
              </a:rPr>
              <a:t>Distribución aproximadamente simétrica en torno a la media, sin sesgo marcado hacia ningún extremo de la escala 1–10.</a:t>
            </a:r>
            <a:endParaRPr lang="en-US" sz="1150" dirty="0"/>
          </a:p>
        </p:txBody>
      </p:sp>
      <p:sp>
        <p:nvSpPr>
          <p:cNvPr id="13" name="Shape 11"/>
          <p:cNvSpPr/>
          <p:nvPr/>
        </p:nvSpPr>
        <p:spPr>
          <a:xfrm>
            <a:off x="822960" y="4572000"/>
            <a:ext cx="3566160" cy="0"/>
          </a:xfrm>
          <a:prstGeom prst="line">
            <a:avLst/>
          </a:prstGeom>
          <a:noFill/>
          <a:ln w="12700">
            <a:solidFill>
              <a:srgbClr val="D8DEEC"/>
            </a:solidFill>
            <a:prstDash val="solid"/>
          </a:ln>
        </p:spPr>
        <p:txBody>
          <a:bodyPr/>
          <a:lstStyle/>
          <a:p>
            <a:endParaRPr lang="es-CL"/>
          </a:p>
        </p:txBody>
      </p:sp>
      <p:sp>
        <p:nvSpPr>
          <p:cNvPr id="14" name="Text 12"/>
          <p:cNvSpPr txBox="1"/>
          <p:nvPr/>
        </p:nvSpPr>
        <p:spPr>
          <a:xfrm>
            <a:off x="822960" y="4709160"/>
            <a:ext cx="3566160" cy="320040"/>
          </a:xfrm>
          <a:prstGeom prst="rect">
            <a:avLst/>
          </a:prstGeom>
          <a:noFill/>
          <a:ln/>
        </p:spPr>
        <p:txBody>
          <a:bodyPr wrap="square"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Variables categóricas</a:t>
            </a:r>
            <a:endParaRPr lang="en-US" sz="1300" dirty="0"/>
          </a:p>
        </p:txBody>
      </p:sp>
      <p:sp>
        <p:nvSpPr>
          <p:cNvPr id="15" name="Text 13"/>
          <p:cNvSpPr txBox="1"/>
          <p:nvPr/>
        </p:nvSpPr>
        <p:spPr>
          <a:xfrm>
            <a:off x="822960" y="5029200"/>
            <a:ext cx="3566160" cy="914400"/>
          </a:xfrm>
          <a:prstGeom prst="rect">
            <a:avLst/>
          </a:prstGeom>
          <a:noFill/>
          <a:ln/>
        </p:spPr>
        <p:txBody>
          <a:bodyPr wrap="square" rtlCol="0" anchor="ctr"/>
          <a:lstStyle/>
          <a:p>
            <a:pPr marL="0" indent="0">
              <a:lnSpc>
                <a:spcPct val="115000"/>
              </a:lnSpc>
              <a:buNone/>
            </a:pPr>
            <a:r>
              <a:rPr lang="en-US" sz="1150" dirty="0">
                <a:solidFill>
                  <a:srgbClr val="4A5568"/>
                </a:solidFill>
                <a:latin typeface="Calibri" pitchFamily="34" charset="0"/>
                <a:ea typeface="Calibri" pitchFamily="34" charset="-122"/>
                <a:cs typeface="Calibri" pitchFamily="34" charset="-120"/>
              </a:rPr>
              <a:t>~2/3 de los estudiantes no posee beca. Ingeniería Informática concentra la mayor matrícula; Contador Auditor, la menor.</a:t>
            </a:r>
            <a:endParaRPr lang="en-US" sz="1150" dirty="0"/>
          </a:p>
        </p:txBody>
      </p:sp>
      <p:sp>
        <p:nvSpPr>
          <p:cNvPr id="16" name="Text 14"/>
          <p:cNvSpPr txBox="1"/>
          <p:nvPr/>
        </p:nvSpPr>
        <p:spPr>
          <a:xfrm>
            <a:off x="4937760" y="1783080"/>
            <a:ext cx="6675120" cy="36576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Correlación de Pearson con FinalGrade</a:t>
            </a:r>
            <a:endParaRPr lang="en-US" sz="1450" dirty="0"/>
          </a:p>
        </p:txBody>
      </p:sp>
      <p:graphicFrame>
        <p:nvGraphicFramePr>
          <p:cNvPr id="17" name="Chart 0"/>
          <p:cNvGraphicFramePr/>
          <p:nvPr/>
        </p:nvGraphicFramePr>
        <p:xfrm>
          <a:off x="4846320" y="2148840"/>
          <a:ext cx="676656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 15"/>
          <p:cNvSpPr txBox="1"/>
          <p:nvPr/>
        </p:nvSpPr>
        <p:spPr>
          <a:xfrm>
            <a:off x="457200" y="6473952"/>
            <a:ext cx="8686800" cy="274320"/>
          </a:xfrm>
          <a:prstGeom prst="rect">
            <a:avLst/>
          </a:prstGeom>
          <a:noFill/>
          <a:ln/>
        </p:spPr>
        <p:txBody>
          <a:bodyPr wrap="square" rtlCol="0" anchor="ctr"/>
          <a:lstStyle/>
          <a:p>
            <a:pPr marL="0" indent="0">
              <a:buNone/>
            </a:pPr>
            <a:r>
              <a:rPr lang="en-US" sz="900" dirty="0">
                <a:solidFill>
                  <a:srgbClr val="9AA3B8"/>
                </a:solidFill>
                <a:latin typeface="Calibri" pitchFamily="34" charset="0"/>
                <a:ea typeface="Calibri" pitchFamily="34" charset="-122"/>
                <a:cs typeface="Calibri" pitchFamily="34" charset="-120"/>
              </a:rPr>
              <a:t>Evaluación 1 · Calidad y Preparación de Datos · Rendimiento Académico</a:t>
            </a:r>
            <a:endParaRPr lang="en-US" sz="900" dirty="0"/>
          </a:p>
        </p:txBody>
      </p:sp>
      <p:sp>
        <p:nvSpPr>
          <p:cNvPr id="19" name="Text 16"/>
          <p:cNvSpPr txBox="1"/>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5</a:t>
            </a:r>
            <a:endParaRPr lang="en-US" sz="900" dirty="0"/>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54864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Preguntas de investigación</a:t>
            </a:r>
            <a:endParaRPr lang="en-US" sz="3000" dirty="0"/>
          </a:p>
        </p:txBody>
      </p:sp>
      <p:sp>
        <p:nvSpPr>
          <p:cNvPr id="3" name="Text 1"/>
          <p:cNvSpPr txBox="1"/>
          <p:nvPr/>
        </p:nvSpPr>
        <p:spPr>
          <a:xfrm>
            <a:off x="548640" y="960120"/>
            <a:ext cx="11064240" cy="365760"/>
          </a:xfrm>
          <a:prstGeom prst="rect">
            <a:avLst/>
          </a:prstGeom>
          <a:noFill/>
          <a:ln/>
        </p:spPr>
        <p:txBody>
          <a:bodyPr wrap="square" rtlCol="0" anchor="ctr"/>
          <a:lstStyle/>
          <a:p>
            <a:pPr marL="0" indent="0">
              <a:buNone/>
            </a:pPr>
            <a:r>
              <a:rPr lang="en-US" sz="1400" dirty="0">
                <a:solidFill>
                  <a:srgbClr val="4A5568"/>
                </a:solidFill>
                <a:latin typeface="Calibri" pitchFamily="34" charset="0"/>
                <a:ea typeface="Calibri" pitchFamily="34" charset="-122"/>
                <a:cs typeface="Calibri" pitchFamily="34" charset="-120"/>
              </a:rPr>
              <a:t>Respuestas cuantificadas a partir del EDA</a:t>
            </a:r>
            <a:endParaRPr lang="en-US" sz="1400" dirty="0"/>
          </a:p>
        </p:txBody>
      </p:sp>
      <p:sp>
        <p:nvSpPr>
          <p:cNvPr id="4" name="Shape 2"/>
          <p:cNvSpPr/>
          <p:nvPr/>
        </p:nvSpPr>
        <p:spPr>
          <a:xfrm>
            <a:off x="548640" y="1600200"/>
            <a:ext cx="5440680" cy="1965960"/>
          </a:xfrm>
          <a:prstGeom prst="roundRect">
            <a:avLst>
              <a:gd name="adj" fmla="val 4186"/>
            </a:avLst>
          </a:prstGeom>
          <a:solidFill>
            <a:srgbClr val="F0F3FA"/>
          </a:solidFill>
          <a:ln/>
        </p:spPr>
        <p:txBody>
          <a:bodyPr/>
          <a:lstStyle/>
          <a:p>
            <a:endParaRPr lang="es-CL"/>
          </a:p>
        </p:txBody>
      </p:sp>
      <p:sp>
        <p:nvSpPr>
          <p:cNvPr id="5" name="Shape 3"/>
          <p:cNvSpPr/>
          <p:nvPr/>
        </p:nvSpPr>
        <p:spPr>
          <a:xfrm>
            <a:off x="804672" y="1856232"/>
            <a:ext cx="685800" cy="502920"/>
          </a:xfrm>
          <a:prstGeom prst="roundRect">
            <a:avLst>
              <a:gd name="adj" fmla="val 14545"/>
            </a:avLst>
          </a:prstGeom>
          <a:solidFill>
            <a:srgbClr val="5B7FDB"/>
          </a:solidFill>
          <a:ln/>
        </p:spPr>
        <p:txBody>
          <a:bodyPr/>
          <a:lstStyle/>
          <a:p>
            <a:endParaRPr lang="es-CL"/>
          </a:p>
        </p:txBody>
      </p:sp>
      <p:sp>
        <p:nvSpPr>
          <p:cNvPr id="6" name="Text 4"/>
          <p:cNvSpPr txBox="1"/>
          <p:nvPr/>
        </p:nvSpPr>
        <p:spPr>
          <a:xfrm>
            <a:off x="804672" y="1856232"/>
            <a:ext cx="68580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P1</a:t>
            </a:r>
            <a:endParaRPr lang="en-US" sz="1800" dirty="0"/>
          </a:p>
        </p:txBody>
      </p:sp>
      <p:sp>
        <p:nvSpPr>
          <p:cNvPr id="7" name="Text 5"/>
          <p:cNvSpPr txBox="1"/>
          <p:nvPr/>
        </p:nvSpPr>
        <p:spPr>
          <a:xfrm>
            <a:off x="1645920" y="1856232"/>
            <a:ext cx="4069080" cy="36576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Beca vs. FinalGrade</a:t>
            </a:r>
            <a:endParaRPr lang="en-US" sz="1450" dirty="0"/>
          </a:p>
        </p:txBody>
      </p:sp>
      <p:sp>
        <p:nvSpPr>
          <p:cNvPr id="8" name="Text 6"/>
          <p:cNvSpPr txBox="1"/>
          <p:nvPr/>
        </p:nvSpPr>
        <p:spPr>
          <a:xfrm>
            <a:off x="1645920" y="2203704"/>
            <a:ext cx="4069080" cy="1280160"/>
          </a:xfrm>
          <a:prstGeom prst="rect">
            <a:avLst/>
          </a:prstGeom>
          <a:noFill/>
          <a:ln/>
        </p:spPr>
        <p:txBody>
          <a:bodyPr wrap="square" rtlCol="0" anchor="ctr"/>
          <a:lstStyle/>
          <a:p>
            <a:pPr marL="0" indent="0">
              <a:lnSpc>
                <a:spcPct val="115000"/>
              </a:lnSpc>
              <a:buNone/>
            </a:pPr>
            <a:r>
              <a:rPr lang="en-US" sz="1130" dirty="0">
                <a:solidFill>
                  <a:srgbClr val="4A5568"/>
                </a:solidFill>
                <a:latin typeface="Calibri" pitchFamily="34" charset="0"/>
                <a:ea typeface="Calibri" pitchFamily="34" charset="-122"/>
                <a:cs typeface="Calibri" pitchFamily="34" charset="-120"/>
              </a:rPr>
              <a:t>Con beca: 4.37 promedio · Sin beca: 4.08. Diferencia de 0.30 puntos a favor de becados, estadísticamente significativa (t de Welch, p &lt; 0.001).</a:t>
            </a:r>
            <a:endParaRPr lang="en-US" sz="1130" dirty="0"/>
          </a:p>
        </p:txBody>
      </p:sp>
      <p:sp>
        <p:nvSpPr>
          <p:cNvPr id="9" name="Shape 7"/>
          <p:cNvSpPr/>
          <p:nvPr/>
        </p:nvSpPr>
        <p:spPr>
          <a:xfrm>
            <a:off x="6309360" y="1600200"/>
            <a:ext cx="5440680" cy="1965960"/>
          </a:xfrm>
          <a:prstGeom prst="roundRect">
            <a:avLst>
              <a:gd name="adj" fmla="val 4186"/>
            </a:avLst>
          </a:prstGeom>
          <a:solidFill>
            <a:srgbClr val="F0F3FA"/>
          </a:solidFill>
          <a:ln/>
        </p:spPr>
        <p:txBody>
          <a:bodyPr/>
          <a:lstStyle/>
          <a:p>
            <a:endParaRPr lang="es-CL"/>
          </a:p>
        </p:txBody>
      </p:sp>
      <p:sp>
        <p:nvSpPr>
          <p:cNvPr id="10" name="Shape 8"/>
          <p:cNvSpPr/>
          <p:nvPr/>
        </p:nvSpPr>
        <p:spPr>
          <a:xfrm>
            <a:off x="6565392" y="1856232"/>
            <a:ext cx="685800" cy="502920"/>
          </a:xfrm>
          <a:prstGeom prst="roundRect">
            <a:avLst>
              <a:gd name="adj" fmla="val 14545"/>
            </a:avLst>
          </a:prstGeom>
          <a:solidFill>
            <a:srgbClr val="3FA796"/>
          </a:solidFill>
          <a:ln/>
        </p:spPr>
        <p:txBody>
          <a:bodyPr/>
          <a:lstStyle/>
          <a:p>
            <a:endParaRPr lang="es-CL"/>
          </a:p>
        </p:txBody>
      </p:sp>
      <p:sp>
        <p:nvSpPr>
          <p:cNvPr id="11" name="Text 9"/>
          <p:cNvSpPr txBox="1"/>
          <p:nvPr/>
        </p:nvSpPr>
        <p:spPr>
          <a:xfrm>
            <a:off x="6565392" y="1856232"/>
            <a:ext cx="68580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P2</a:t>
            </a:r>
            <a:endParaRPr lang="en-US" sz="1800" dirty="0"/>
          </a:p>
        </p:txBody>
      </p:sp>
      <p:sp>
        <p:nvSpPr>
          <p:cNvPr id="12" name="Text 10"/>
          <p:cNvSpPr txBox="1"/>
          <p:nvPr/>
        </p:nvSpPr>
        <p:spPr>
          <a:xfrm>
            <a:off x="7406640" y="1856232"/>
            <a:ext cx="4069080" cy="36576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Programa académico</a:t>
            </a:r>
            <a:endParaRPr lang="en-US" sz="1450" dirty="0"/>
          </a:p>
        </p:txBody>
      </p:sp>
      <p:sp>
        <p:nvSpPr>
          <p:cNvPr id="13" name="Text 11"/>
          <p:cNvSpPr txBox="1"/>
          <p:nvPr/>
        </p:nvSpPr>
        <p:spPr>
          <a:xfrm>
            <a:off x="7406640" y="2203704"/>
            <a:ext cx="4069080" cy="1280160"/>
          </a:xfrm>
          <a:prstGeom prst="rect">
            <a:avLst/>
          </a:prstGeom>
          <a:noFill/>
          <a:ln/>
        </p:spPr>
        <p:txBody>
          <a:bodyPr wrap="square" rtlCol="0" anchor="ctr"/>
          <a:lstStyle/>
          <a:p>
            <a:pPr marL="0" indent="0">
              <a:lnSpc>
                <a:spcPct val="115000"/>
              </a:lnSpc>
              <a:buNone/>
            </a:pPr>
            <a:r>
              <a:rPr lang="en-US" sz="1130" dirty="0">
                <a:solidFill>
                  <a:srgbClr val="4A5568"/>
                </a:solidFill>
                <a:latin typeface="Calibri" pitchFamily="34" charset="0"/>
                <a:ea typeface="Calibri" pitchFamily="34" charset="-122"/>
                <a:cs typeface="Calibri" pitchFamily="34" charset="-120"/>
              </a:rPr>
              <a:t>Ingeniería Informática lidera (4.23); Contador Auditor es el más bajo (4.05). Diferencia de solo 0.18 puntos: el programa explica poca variación.</a:t>
            </a:r>
            <a:endParaRPr lang="en-US" sz="1130" dirty="0"/>
          </a:p>
        </p:txBody>
      </p:sp>
      <p:sp>
        <p:nvSpPr>
          <p:cNvPr id="14" name="Shape 12"/>
          <p:cNvSpPr/>
          <p:nvPr/>
        </p:nvSpPr>
        <p:spPr>
          <a:xfrm>
            <a:off x="548640" y="3840480"/>
            <a:ext cx="5440680" cy="1965960"/>
          </a:xfrm>
          <a:prstGeom prst="roundRect">
            <a:avLst>
              <a:gd name="adj" fmla="val 4186"/>
            </a:avLst>
          </a:prstGeom>
          <a:solidFill>
            <a:srgbClr val="F0F3FA"/>
          </a:solidFill>
          <a:ln/>
        </p:spPr>
        <p:txBody>
          <a:bodyPr/>
          <a:lstStyle/>
          <a:p>
            <a:endParaRPr lang="es-CL"/>
          </a:p>
        </p:txBody>
      </p:sp>
      <p:sp>
        <p:nvSpPr>
          <p:cNvPr id="15" name="Shape 13"/>
          <p:cNvSpPr/>
          <p:nvPr/>
        </p:nvSpPr>
        <p:spPr>
          <a:xfrm>
            <a:off x="804672" y="4096512"/>
            <a:ext cx="685800" cy="502920"/>
          </a:xfrm>
          <a:prstGeom prst="roundRect">
            <a:avLst>
              <a:gd name="adj" fmla="val 14545"/>
            </a:avLst>
          </a:prstGeom>
          <a:solidFill>
            <a:srgbClr val="E4572E"/>
          </a:solidFill>
          <a:ln/>
        </p:spPr>
        <p:txBody>
          <a:bodyPr/>
          <a:lstStyle/>
          <a:p>
            <a:endParaRPr lang="es-CL"/>
          </a:p>
        </p:txBody>
      </p:sp>
      <p:sp>
        <p:nvSpPr>
          <p:cNvPr id="16" name="Text 14"/>
          <p:cNvSpPr txBox="1"/>
          <p:nvPr/>
        </p:nvSpPr>
        <p:spPr>
          <a:xfrm>
            <a:off x="804672" y="4096512"/>
            <a:ext cx="68580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P3</a:t>
            </a:r>
            <a:endParaRPr lang="en-US" sz="1800" dirty="0"/>
          </a:p>
        </p:txBody>
      </p:sp>
      <p:sp>
        <p:nvSpPr>
          <p:cNvPr id="17" name="Text 15"/>
          <p:cNvSpPr txBox="1"/>
          <p:nvPr/>
        </p:nvSpPr>
        <p:spPr>
          <a:xfrm>
            <a:off x="1645920" y="4096512"/>
            <a:ext cx="4069080" cy="36576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StudyHours vs. FinalGrade</a:t>
            </a:r>
            <a:endParaRPr lang="en-US" sz="1450" dirty="0"/>
          </a:p>
        </p:txBody>
      </p:sp>
      <p:sp>
        <p:nvSpPr>
          <p:cNvPr id="18" name="Text 16"/>
          <p:cNvSpPr txBox="1"/>
          <p:nvPr/>
        </p:nvSpPr>
        <p:spPr>
          <a:xfrm>
            <a:off x="1645920" y="4443984"/>
            <a:ext cx="4069080" cy="1280160"/>
          </a:xfrm>
          <a:prstGeom prst="rect">
            <a:avLst/>
          </a:prstGeom>
          <a:noFill/>
          <a:ln/>
        </p:spPr>
        <p:txBody>
          <a:bodyPr wrap="square" rtlCol="0" anchor="ctr"/>
          <a:lstStyle/>
          <a:p>
            <a:pPr marL="0" indent="0">
              <a:lnSpc>
                <a:spcPct val="115000"/>
              </a:lnSpc>
              <a:buNone/>
            </a:pPr>
            <a:r>
              <a:rPr lang="en-US" sz="1130" dirty="0">
                <a:solidFill>
                  <a:srgbClr val="4A5568"/>
                </a:solidFill>
                <a:latin typeface="Calibri" pitchFamily="34" charset="0"/>
                <a:ea typeface="Calibri" pitchFamily="34" charset="-122"/>
                <a:cs typeface="Calibri" pitchFamily="34" charset="-120"/>
              </a:rPr>
              <a:t>Relación positiva de intensidad moderada (r = 0.50, p &lt; 0.001): más horas semanales de estudio se asocian a mejor nota, aunque el efecto es menor que el de otras variables.</a:t>
            </a:r>
            <a:endParaRPr lang="en-US" sz="1130" dirty="0"/>
          </a:p>
        </p:txBody>
      </p:sp>
      <p:sp>
        <p:nvSpPr>
          <p:cNvPr id="19" name="Shape 17"/>
          <p:cNvSpPr/>
          <p:nvPr/>
        </p:nvSpPr>
        <p:spPr>
          <a:xfrm>
            <a:off x="6309360" y="3840480"/>
            <a:ext cx="5440680" cy="1965960"/>
          </a:xfrm>
          <a:prstGeom prst="roundRect">
            <a:avLst>
              <a:gd name="adj" fmla="val 4186"/>
            </a:avLst>
          </a:prstGeom>
          <a:solidFill>
            <a:srgbClr val="F0F3FA"/>
          </a:solidFill>
          <a:ln/>
        </p:spPr>
        <p:txBody>
          <a:bodyPr/>
          <a:lstStyle/>
          <a:p>
            <a:endParaRPr lang="es-CL"/>
          </a:p>
        </p:txBody>
      </p:sp>
      <p:sp>
        <p:nvSpPr>
          <p:cNvPr id="20" name="Shape 18"/>
          <p:cNvSpPr/>
          <p:nvPr/>
        </p:nvSpPr>
        <p:spPr>
          <a:xfrm>
            <a:off x="6565392" y="4096512"/>
            <a:ext cx="685800" cy="502920"/>
          </a:xfrm>
          <a:prstGeom prst="roundRect">
            <a:avLst>
              <a:gd name="adj" fmla="val 14545"/>
            </a:avLst>
          </a:prstGeom>
          <a:solidFill>
            <a:srgbClr val="8E6FCE"/>
          </a:solidFill>
          <a:ln/>
        </p:spPr>
        <p:txBody>
          <a:bodyPr/>
          <a:lstStyle/>
          <a:p>
            <a:endParaRPr lang="es-CL"/>
          </a:p>
        </p:txBody>
      </p:sp>
      <p:sp>
        <p:nvSpPr>
          <p:cNvPr id="21" name="Text 19"/>
          <p:cNvSpPr txBox="1"/>
          <p:nvPr/>
        </p:nvSpPr>
        <p:spPr>
          <a:xfrm>
            <a:off x="6565392" y="4096512"/>
            <a:ext cx="68580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P4</a:t>
            </a:r>
            <a:endParaRPr lang="en-US" sz="1800" dirty="0"/>
          </a:p>
        </p:txBody>
      </p:sp>
      <p:sp>
        <p:nvSpPr>
          <p:cNvPr id="22" name="Text 20"/>
          <p:cNvSpPr txBox="1"/>
          <p:nvPr/>
        </p:nvSpPr>
        <p:spPr>
          <a:xfrm>
            <a:off x="7406640" y="4096512"/>
            <a:ext cx="4069080" cy="36576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Attendance vs. FinalGrade</a:t>
            </a:r>
            <a:endParaRPr lang="en-US" sz="1450" dirty="0"/>
          </a:p>
        </p:txBody>
      </p:sp>
      <p:sp>
        <p:nvSpPr>
          <p:cNvPr id="23" name="Text 21"/>
          <p:cNvSpPr txBox="1"/>
          <p:nvPr/>
        </p:nvSpPr>
        <p:spPr>
          <a:xfrm>
            <a:off x="7406640" y="4443984"/>
            <a:ext cx="4069080" cy="1280160"/>
          </a:xfrm>
          <a:prstGeom prst="rect">
            <a:avLst/>
          </a:prstGeom>
          <a:noFill/>
          <a:ln/>
        </p:spPr>
        <p:txBody>
          <a:bodyPr wrap="square" rtlCol="0" anchor="ctr"/>
          <a:lstStyle/>
          <a:p>
            <a:pPr marL="0" indent="0">
              <a:lnSpc>
                <a:spcPct val="115000"/>
              </a:lnSpc>
              <a:buNone/>
            </a:pPr>
            <a:r>
              <a:rPr lang="en-US" sz="1130" dirty="0">
                <a:solidFill>
                  <a:srgbClr val="4A5568"/>
                </a:solidFill>
                <a:latin typeface="Calibri" pitchFamily="34" charset="0"/>
                <a:ea typeface="Calibri" pitchFamily="34" charset="-122"/>
                <a:cs typeface="Calibri" pitchFamily="34" charset="-120"/>
              </a:rPr>
              <a:t>Relación positiva y fuerte (r = 0.64, p &lt; 0.001). El promedio sube de forma monotónica entre el cuartil de menor asistencia (≈3.31) y el de mayor asistencia (≈4.94).</a:t>
            </a:r>
            <a:endParaRPr lang="en-US" sz="1130" dirty="0"/>
          </a:p>
        </p:txBody>
      </p:sp>
      <p:sp>
        <p:nvSpPr>
          <p:cNvPr id="24" name="Text 22"/>
          <p:cNvSpPr txBox="1"/>
          <p:nvPr/>
        </p:nvSpPr>
        <p:spPr>
          <a:xfrm>
            <a:off x="457200" y="6473952"/>
            <a:ext cx="8686800" cy="274320"/>
          </a:xfrm>
          <a:prstGeom prst="rect">
            <a:avLst/>
          </a:prstGeom>
          <a:noFill/>
          <a:ln/>
        </p:spPr>
        <p:txBody>
          <a:bodyPr wrap="square" rtlCol="0" anchor="ctr"/>
          <a:lstStyle/>
          <a:p>
            <a:pPr marL="0" indent="0">
              <a:buNone/>
            </a:pPr>
            <a:r>
              <a:rPr lang="en-US" sz="900" dirty="0">
                <a:solidFill>
                  <a:srgbClr val="9AA3B8"/>
                </a:solidFill>
                <a:latin typeface="Calibri" pitchFamily="34" charset="0"/>
                <a:ea typeface="Calibri" pitchFamily="34" charset="-122"/>
                <a:cs typeface="Calibri" pitchFamily="34" charset="-120"/>
              </a:rPr>
              <a:t>Evaluación 1 · Calidad y Preparación de Datos · Rendimiento Académico</a:t>
            </a:r>
            <a:endParaRPr lang="en-US" sz="900" dirty="0"/>
          </a:p>
        </p:txBody>
      </p:sp>
      <p:sp>
        <p:nvSpPr>
          <p:cNvPr id="25" name="Text 23"/>
          <p:cNvSpPr txBox="1"/>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6</a:t>
            </a:r>
            <a:endParaRPr lang="en-US" sz="900" dirty="0"/>
          </a:p>
        </p:txBody>
      </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54864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Estrategia de tratamiento</a:t>
            </a:r>
            <a:endParaRPr lang="en-US" sz="3000" dirty="0"/>
          </a:p>
        </p:txBody>
      </p:sp>
      <p:sp>
        <p:nvSpPr>
          <p:cNvPr id="3" name="Text 1"/>
          <p:cNvSpPr txBox="1"/>
          <p:nvPr/>
        </p:nvSpPr>
        <p:spPr>
          <a:xfrm>
            <a:off x="548640" y="960120"/>
            <a:ext cx="11064240" cy="365760"/>
          </a:xfrm>
          <a:prstGeom prst="rect">
            <a:avLst/>
          </a:prstGeom>
          <a:noFill/>
          <a:ln/>
        </p:spPr>
        <p:txBody>
          <a:bodyPr wrap="square" rtlCol="0" anchor="ctr"/>
          <a:lstStyle/>
          <a:p>
            <a:pPr marL="0" indent="0">
              <a:buNone/>
            </a:pPr>
            <a:r>
              <a:rPr lang="en-US" sz="1400" dirty="0">
                <a:solidFill>
                  <a:srgbClr val="4A5568"/>
                </a:solidFill>
                <a:latin typeface="Calibri" pitchFamily="34" charset="0"/>
                <a:ea typeface="Calibri" pitchFamily="34" charset="-122"/>
                <a:cs typeface="Calibri" pitchFamily="34" charset="-120"/>
              </a:rPr>
              <a:t>Decisiones fundamentadas en el diagnóstico de las secciones anteriores</a:t>
            </a:r>
            <a:endParaRPr lang="en-US" sz="1400" dirty="0"/>
          </a:p>
        </p:txBody>
      </p:sp>
      <p:sp>
        <p:nvSpPr>
          <p:cNvPr id="4" name="Shape 2"/>
          <p:cNvSpPr/>
          <p:nvPr/>
        </p:nvSpPr>
        <p:spPr>
          <a:xfrm>
            <a:off x="548640" y="1691640"/>
            <a:ext cx="2697480" cy="3108960"/>
          </a:xfrm>
          <a:prstGeom prst="roundRect">
            <a:avLst>
              <a:gd name="adj" fmla="val 3051"/>
            </a:avLst>
          </a:prstGeom>
          <a:solidFill>
            <a:srgbClr val="F0F3FA"/>
          </a:solidFill>
          <a:ln/>
        </p:spPr>
        <p:txBody>
          <a:bodyPr/>
          <a:lstStyle/>
          <a:p>
            <a:endParaRPr lang="es-CL"/>
          </a:p>
        </p:txBody>
      </p:sp>
      <p:sp>
        <p:nvSpPr>
          <p:cNvPr id="5" name="Shape 3"/>
          <p:cNvSpPr/>
          <p:nvPr/>
        </p:nvSpPr>
        <p:spPr>
          <a:xfrm>
            <a:off x="1508760" y="1965960"/>
            <a:ext cx="777240" cy="777240"/>
          </a:xfrm>
          <a:prstGeom prst="ellipse">
            <a:avLst/>
          </a:prstGeom>
          <a:solidFill>
            <a:srgbClr val="1E2761"/>
          </a:solidFill>
          <a:ln/>
        </p:spPr>
        <p:txBody>
          <a:bodyPr/>
          <a:lstStyle/>
          <a:p>
            <a:endParaRPr lang="es-CL"/>
          </a:p>
        </p:txBody>
      </p:sp>
      <p:pic>
        <p:nvPicPr>
          <p:cNvPr id="6" name="Image 0" descr="icons/filter_white.png"/>
          <p:cNvPicPr>
            <a:picLocks noChangeAspect="1"/>
          </p:cNvPicPr>
          <p:nvPr/>
        </p:nvPicPr>
        <p:blipFill>
          <a:blip r:embed="rId3">
            <a:duotone>
              <a:prstClr val="black"/>
              <a:srgbClr val="BACBED">
                <a:tint val="45000"/>
                <a:satMod val="400000"/>
              </a:srgbClr>
            </a:duotone>
          </a:blip>
          <a:stretch>
            <a:fillRect/>
          </a:stretch>
        </p:blipFill>
        <p:spPr>
          <a:xfrm>
            <a:off x="1695298" y="2152498"/>
            <a:ext cx="404165" cy="404165"/>
          </a:xfrm>
          <a:prstGeom prst="rect">
            <a:avLst/>
          </a:prstGeom>
        </p:spPr>
      </p:pic>
      <p:sp>
        <p:nvSpPr>
          <p:cNvPr id="7" name="Text 4"/>
          <p:cNvSpPr txBox="1"/>
          <p:nvPr/>
        </p:nvSpPr>
        <p:spPr>
          <a:xfrm>
            <a:off x="685800" y="2926080"/>
            <a:ext cx="2423160" cy="457200"/>
          </a:xfrm>
          <a:prstGeom prst="rect">
            <a:avLst/>
          </a:prstGeom>
          <a:noFill/>
          <a:ln/>
        </p:spPr>
        <p:txBody>
          <a:bodyPr wrap="square" rtlCol="0" anchor="ctr"/>
          <a:lstStyle/>
          <a:p>
            <a:pPr marL="0" indent="0" algn="ctr">
              <a:buNone/>
            </a:pPr>
            <a:r>
              <a:rPr lang="en-US" sz="1350" b="1" dirty="0">
                <a:solidFill>
                  <a:srgbClr val="1E2761"/>
                </a:solidFill>
                <a:latin typeface="Cambria" pitchFamily="34" charset="0"/>
                <a:ea typeface="Cambria" pitchFamily="34" charset="-122"/>
                <a:cs typeface="Cambria" pitchFamily="34" charset="-120"/>
              </a:rPr>
              <a:t>1. Validar dominio</a:t>
            </a:r>
            <a:endParaRPr lang="en-US" sz="1350" dirty="0"/>
          </a:p>
        </p:txBody>
      </p:sp>
      <p:sp>
        <p:nvSpPr>
          <p:cNvPr id="8" name="Text 5"/>
          <p:cNvSpPr txBox="1"/>
          <p:nvPr/>
        </p:nvSpPr>
        <p:spPr>
          <a:xfrm>
            <a:off x="731520" y="3429000"/>
            <a:ext cx="2331720" cy="1280160"/>
          </a:xfrm>
          <a:prstGeom prst="rect">
            <a:avLst/>
          </a:prstGeom>
          <a:noFill/>
          <a:ln/>
        </p:spPr>
        <p:txBody>
          <a:bodyPr wrap="square" rtlCol="0" anchor="ctr"/>
          <a:lstStyle/>
          <a:p>
            <a:pPr marL="0" indent="0" algn="ctr">
              <a:lnSpc>
                <a:spcPct val="115000"/>
              </a:lnSpc>
              <a:buNone/>
            </a:pPr>
            <a:r>
              <a:rPr lang="en-US" sz="1080" dirty="0">
                <a:solidFill>
                  <a:srgbClr val="4A5568"/>
                </a:solidFill>
                <a:latin typeface="Calibri" pitchFamily="34" charset="0"/>
                <a:ea typeface="Calibri" pitchFamily="34" charset="-122"/>
                <a:cs typeface="Calibri" pitchFamily="34" charset="-120"/>
              </a:rPr>
              <a:t>Convertir a NaN los valores físicamente imposibles: asistencia fuera de 0–100%, horas fuera de 0–24, notas fuera de la escala oficial 1–10.</a:t>
            </a:r>
            <a:endParaRPr lang="en-US" sz="1080" dirty="0"/>
          </a:p>
        </p:txBody>
      </p:sp>
      <p:sp>
        <p:nvSpPr>
          <p:cNvPr id="9" name="Shape 6"/>
          <p:cNvSpPr/>
          <p:nvPr/>
        </p:nvSpPr>
        <p:spPr>
          <a:xfrm>
            <a:off x="3474720" y="1691640"/>
            <a:ext cx="2697480" cy="3108960"/>
          </a:xfrm>
          <a:prstGeom prst="roundRect">
            <a:avLst>
              <a:gd name="adj" fmla="val 3051"/>
            </a:avLst>
          </a:prstGeom>
          <a:solidFill>
            <a:srgbClr val="F0F3FA"/>
          </a:solidFill>
          <a:ln/>
        </p:spPr>
        <p:txBody>
          <a:bodyPr/>
          <a:lstStyle/>
          <a:p>
            <a:endParaRPr lang="es-CL"/>
          </a:p>
        </p:txBody>
      </p:sp>
      <p:sp>
        <p:nvSpPr>
          <p:cNvPr id="10" name="Shape 7"/>
          <p:cNvSpPr/>
          <p:nvPr/>
        </p:nvSpPr>
        <p:spPr>
          <a:xfrm>
            <a:off x="4434840" y="1965960"/>
            <a:ext cx="777240" cy="777240"/>
          </a:xfrm>
          <a:prstGeom prst="ellipse">
            <a:avLst/>
          </a:prstGeom>
          <a:solidFill>
            <a:srgbClr val="1E2761"/>
          </a:solidFill>
          <a:ln/>
        </p:spPr>
        <p:txBody>
          <a:bodyPr/>
          <a:lstStyle/>
          <a:p>
            <a:endParaRPr lang="es-CL"/>
          </a:p>
        </p:txBody>
      </p:sp>
      <p:pic>
        <p:nvPicPr>
          <p:cNvPr id="11" name="Image 1" descr="icons/magic_white.png"/>
          <p:cNvPicPr>
            <a:picLocks noChangeAspect="1"/>
          </p:cNvPicPr>
          <p:nvPr/>
        </p:nvPicPr>
        <p:blipFill>
          <a:blip r:embed="rId4"/>
          <a:stretch>
            <a:fillRect/>
          </a:stretch>
        </p:blipFill>
        <p:spPr>
          <a:xfrm>
            <a:off x="4621378" y="2152498"/>
            <a:ext cx="404165" cy="404165"/>
          </a:xfrm>
          <a:prstGeom prst="rect">
            <a:avLst/>
          </a:prstGeom>
        </p:spPr>
      </p:pic>
      <p:sp>
        <p:nvSpPr>
          <p:cNvPr id="12" name="Text 8"/>
          <p:cNvSpPr txBox="1"/>
          <p:nvPr/>
        </p:nvSpPr>
        <p:spPr>
          <a:xfrm>
            <a:off x="3611880" y="2926080"/>
            <a:ext cx="2423160" cy="457200"/>
          </a:xfrm>
          <a:prstGeom prst="rect">
            <a:avLst/>
          </a:prstGeom>
          <a:noFill/>
          <a:ln/>
        </p:spPr>
        <p:txBody>
          <a:bodyPr wrap="square" rtlCol="0" anchor="ctr"/>
          <a:lstStyle/>
          <a:p>
            <a:pPr marL="0" indent="0" algn="ctr">
              <a:buNone/>
            </a:pPr>
            <a:r>
              <a:rPr lang="en-US" sz="1350" b="1" dirty="0">
                <a:solidFill>
                  <a:srgbClr val="1E2761"/>
                </a:solidFill>
                <a:latin typeface="Cambria" pitchFamily="34" charset="0"/>
                <a:ea typeface="Cambria" pitchFamily="34" charset="-122"/>
                <a:cs typeface="Cambria" pitchFamily="34" charset="-120"/>
              </a:rPr>
              <a:t>2. Imputar y normalizar</a:t>
            </a:r>
            <a:endParaRPr lang="en-US" sz="1350" dirty="0"/>
          </a:p>
        </p:txBody>
      </p:sp>
      <p:sp>
        <p:nvSpPr>
          <p:cNvPr id="13" name="Text 9"/>
          <p:cNvSpPr txBox="1"/>
          <p:nvPr/>
        </p:nvSpPr>
        <p:spPr>
          <a:xfrm>
            <a:off x="3657600" y="3429000"/>
            <a:ext cx="2331720" cy="1280160"/>
          </a:xfrm>
          <a:prstGeom prst="rect">
            <a:avLst/>
          </a:prstGeom>
          <a:noFill/>
          <a:ln/>
        </p:spPr>
        <p:txBody>
          <a:bodyPr wrap="square" rtlCol="0" anchor="ctr"/>
          <a:lstStyle/>
          <a:p>
            <a:pPr marL="0" indent="0" algn="ctr">
              <a:lnSpc>
                <a:spcPct val="115000"/>
              </a:lnSpc>
              <a:buNone/>
            </a:pPr>
            <a:r>
              <a:rPr lang="en-US" sz="1080" dirty="0">
                <a:solidFill>
                  <a:srgbClr val="4A5568"/>
                </a:solidFill>
                <a:latin typeface="Calibri" pitchFamily="34" charset="0"/>
                <a:ea typeface="Calibri" pitchFamily="34" charset="-122"/>
                <a:cs typeface="Calibri" pitchFamily="34" charset="-120"/>
              </a:rPr>
              <a:t>Mediana en variables numéricas, moda en categóricas; texto normalizado a categorías canónicas (Sí/No, 5 programas).</a:t>
            </a:r>
            <a:endParaRPr lang="en-US" sz="1080" dirty="0"/>
          </a:p>
        </p:txBody>
      </p:sp>
      <p:sp>
        <p:nvSpPr>
          <p:cNvPr id="14" name="Shape 10"/>
          <p:cNvSpPr/>
          <p:nvPr/>
        </p:nvSpPr>
        <p:spPr>
          <a:xfrm>
            <a:off x="6400800" y="1691640"/>
            <a:ext cx="2697480" cy="3108960"/>
          </a:xfrm>
          <a:prstGeom prst="roundRect">
            <a:avLst>
              <a:gd name="adj" fmla="val 3051"/>
            </a:avLst>
          </a:prstGeom>
          <a:solidFill>
            <a:srgbClr val="F0F3FA"/>
          </a:solidFill>
          <a:ln/>
        </p:spPr>
        <p:txBody>
          <a:bodyPr/>
          <a:lstStyle/>
          <a:p>
            <a:endParaRPr lang="es-CL"/>
          </a:p>
        </p:txBody>
      </p:sp>
      <p:sp>
        <p:nvSpPr>
          <p:cNvPr id="15" name="Shape 11"/>
          <p:cNvSpPr/>
          <p:nvPr/>
        </p:nvSpPr>
        <p:spPr>
          <a:xfrm>
            <a:off x="7360920" y="1965960"/>
            <a:ext cx="777240" cy="777240"/>
          </a:xfrm>
          <a:prstGeom prst="ellipse">
            <a:avLst/>
          </a:prstGeom>
          <a:solidFill>
            <a:srgbClr val="1E2761"/>
          </a:solidFill>
          <a:ln/>
        </p:spPr>
        <p:txBody>
          <a:bodyPr/>
          <a:lstStyle/>
          <a:p>
            <a:endParaRPr lang="es-CL"/>
          </a:p>
        </p:txBody>
      </p:sp>
      <p:pic>
        <p:nvPicPr>
          <p:cNvPr id="16" name="Image 2" descr="icons/cut_white.png"/>
          <p:cNvPicPr>
            <a:picLocks noChangeAspect="1"/>
          </p:cNvPicPr>
          <p:nvPr/>
        </p:nvPicPr>
        <p:blipFill>
          <a:blip r:embed="rId5"/>
          <a:stretch>
            <a:fillRect/>
          </a:stretch>
        </p:blipFill>
        <p:spPr>
          <a:xfrm>
            <a:off x="7547458" y="2152498"/>
            <a:ext cx="404165" cy="404165"/>
          </a:xfrm>
          <a:prstGeom prst="rect">
            <a:avLst/>
          </a:prstGeom>
        </p:spPr>
      </p:pic>
      <p:sp>
        <p:nvSpPr>
          <p:cNvPr id="17" name="Text 12"/>
          <p:cNvSpPr txBox="1"/>
          <p:nvPr/>
        </p:nvSpPr>
        <p:spPr>
          <a:xfrm>
            <a:off x="6537960" y="2926080"/>
            <a:ext cx="2423160" cy="457200"/>
          </a:xfrm>
          <a:prstGeom prst="rect">
            <a:avLst/>
          </a:prstGeom>
          <a:noFill/>
          <a:ln/>
        </p:spPr>
        <p:txBody>
          <a:bodyPr wrap="square" rtlCol="0" anchor="ctr"/>
          <a:lstStyle/>
          <a:p>
            <a:pPr marL="0" indent="0" algn="ctr">
              <a:buNone/>
            </a:pPr>
            <a:r>
              <a:rPr lang="en-US" sz="1350" b="1" dirty="0">
                <a:solidFill>
                  <a:srgbClr val="1E2761"/>
                </a:solidFill>
                <a:latin typeface="Cambria" pitchFamily="34" charset="0"/>
                <a:ea typeface="Cambria" pitchFamily="34" charset="-122"/>
                <a:cs typeface="Cambria" pitchFamily="34" charset="-120"/>
              </a:rPr>
              <a:t>3. Capar outliers (IQR)</a:t>
            </a:r>
            <a:endParaRPr lang="en-US" sz="1350" dirty="0"/>
          </a:p>
        </p:txBody>
      </p:sp>
      <p:sp>
        <p:nvSpPr>
          <p:cNvPr id="18" name="Text 13"/>
          <p:cNvSpPr txBox="1"/>
          <p:nvPr/>
        </p:nvSpPr>
        <p:spPr>
          <a:xfrm>
            <a:off x="6583680" y="3429000"/>
            <a:ext cx="2331720" cy="1280160"/>
          </a:xfrm>
          <a:prstGeom prst="rect">
            <a:avLst/>
          </a:prstGeom>
          <a:noFill/>
          <a:ln/>
        </p:spPr>
        <p:txBody>
          <a:bodyPr wrap="square" rtlCol="0" anchor="ctr"/>
          <a:lstStyle/>
          <a:p>
            <a:pPr marL="0" indent="0" algn="ctr">
              <a:lnSpc>
                <a:spcPct val="115000"/>
              </a:lnSpc>
              <a:buNone/>
            </a:pPr>
            <a:r>
              <a:rPr lang="en-US" sz="1080" dirty="0">
                <a:solidFill>
                  <a:srgbClr val="4A5568"/>
                </a:solidFill>
                <a:latin typeface="Calibri" pitchFamily="34" charset="0"/>
                <a:ea typeface="Calibri" pitchFamily="34" charset="-122"/>
                <a:cs typeface="Calibri" pitchFamily="34" charset="-120"/>
              </a:rPr>
              <a:t>Valores extremos pero válidos se winsorizan a los límites Q1−1.5·IQR / Q3+1.5·IQR, sin eliminar al estudiante.</a:t>
            </a:r>
            <a:endParaRPr lang="en-US" sz="1080" dirty="0"/>
          </a:p>
        </p:txBody>
      </p:sp>
      <p:sp>
        <p:nvSpPr>
          <p:cNvPr id="19" name="Shape 14"/>
          <p:cNvSpPr/>
          <p:nvPr/>
        </p:nvSpPr>
        <p:spPr>
          <a:xfrm>
            <a:off x="9326880" y="1691640"/>
            <a:ext cx="2697480" cy="3108960"/>
          </a:xfrm>
          <a:prstGeom prst="roundRect">
            <a:avLst>
              <a:gd name="adj" fmla="val 3051"/>
            </a:avLst>
          </a:prstGeom>
          <a:solidFill>
            <a:srgbClr val="F0F3FA"/>
          </a:solidFill>
          <a:ln/>
        </p:spPr>
        <p:txBody>
          <a:bodyPr/>
          <a:lstStyle/>
          <a:p>
            <a:endParaRPr lang="es-CL"/>
          </a:p>
        </p:txBody>
      </p:sp>
      <p:sp>
        <p:nvSpPr>
          <p:cNvPr id="20" name="Shape 15"/>
          <p:cNvSpPr/>
          <p:nvPr/>
        </p:nvSpPr>
        <p:spPr>
          <a:xfrm>
            <a:off x="10287000" y="1965960"/>
            <a:ext cx="777240" cy="777240"/>
          </a:xfrm>
          <a:prstGeom prst="ellipse">
            <a:avLst/>
          </a:prstGeom>
          <a:solidFill>
            <a:srgbClr val="1E2761"/>
          </a:solidFill>
          <a:ln/>
        </p:spPr>
        <p:txBody>
          <a:bodyPr/>
          <a:lstStyle/>
          <a:p>
            <a:endParaRPr lang="es-CL"/>
          </a:p>
        </p:txBody>
      </p:sp>
      <p:pic>
        <p:nvPicPr>
          <p:cNvPr id="21" name="Image 3" descr="icons/cogs_white.png"/>
          <p:cNvPicPr>
            <a:picLocks noChangeAspect="1"/>
          </p:cNvPicPr>
          <p:nvPr/>
        </p:nvPicPr>
        <p:blipFill>
          <a:blip r:embed="rId6"/>
          <a:stretch>
            <a:fillRect/>
          </a:stretch>
        </p:blipFill>
        <p:spPr>
          <a:xfrm>
            <a:off x="10473538" y="2152498"/>
            <a:ext cx="404165" cy="404165"/>
          </a:xfrm>
          <a:prstGeom prst="rect">
            <a:avLst/>
          </a:prstGeom>
        </p:spPr>
      </p:pic>
      <p:sp>
        <p:nvSpPr>
          <p:cNvPr id="22" name="Text 16"/>
          <p:cNvSpPr txBox="1"/>
          <p:nvPr/>
        </p:nvSpPr>
        <p:spPr>
          <a:xfrm>
            <a:off x="9464040" y="2926080"/>
            <a:ext cx="2423160" cy="457200"/>
          </a:xfrm>
          <a:prstGeom prst="rect">
            <a:avLst/>
          </a:prstGeom>
          <a:noFill/>
          <a:ln/>
        </p:spPr>
        <p:txBody>
          <a:bodyPr wrap="square" rtlCol="0" anchor="ctr"/>
          <a:lstStyle/>
          <a:p>
            <a:pPr marL="0" indent="0" algn="ctr">
              <a:buNone/>
            </a:pPr>
            <a:r>
              <a:rPr lang="en-US" sz="1350" b="1" dirty="0">
                <a:solidFill>
                  <a:srgbClr val="1E2761"/>
                </a:solidFill>
                <a:latin typeface="Cambria" pitchFamily="34" charset="0"/>
                <a:ea typeface="Cambria" pitchFamily="34" charset="-122"/>
                <a:cs typeface="Cambria" pitchFamily="34" charset="-120"/>
              </a:rPr>
              <a:t>4. Codificar y escalar</a:t>
            </a:r>
            <a:endParaRPr lang="en-US" sz="1350" dirty="0"/>
          </a:p>
        </p:txBody>
      </p:sp>
      <p:sp>
        <p:nvSpPr>
          <p:cNvPr id="23" name="Text 17"/>
          <p:cNvSpPr txBox="1"/>
          <p:nvPr/>
        </p:nvSpPr>
        <p:spPr>
          <a:xfrm>
            <a:off x="9509760" y="3429000"/>
            <a:ext cx="2331720" cy="1280160"/>
          </a:xfrm>
          <a:prstGeom prst="rect">
            <a:avLst/>
          </a:prstGeom>
          <a:noFill/>
          <a:ln/>
        </p:spPr>
        <p:txBody>
          <a:bodyPr wrap="square" rtlCol="0" anchor="ctr"/>
          <a:lstStyle/>
          <a:p>
            <a:pPr marL="0" indent="0" algn="ctr">
              <a:lnSpc>
                <a:spcPct val="115000"/>
              </a:lnSpc>
              <a:buNone/>
            </a:pPr>
            <a:r>
              <a:rPr lang="en-US" sz="1080" dirty="0">
                <a:solidFill>
                  <a:srgbClr val="4A5568"/>
                </a:solidFill>
                <a:latin typeface="Calibri" pitchFamily="34" charset="0"/>
                <a:ea typeface="Calibri" pitchFamily="34" charset="-122"/>
                <a:cs typeface="Calibri" pitchFamily="34" charset="-120"/>
              </a:rPr>
              <a:t>One-Hot Encoding para categóricas; StandardScaler para numéricas. FinalGrade se mantiene siempre separada.</a:t>
            </a:r>
            <a:endParaRPr lang="en-US" sz="1080" dirty="0"/>
          </a:p>
        </p:txBody>
      </p:sp>
      <p:sp>
        <p:nvSpPr>
          <p:cNvPr id="24" name="Shape 18"/>
          <p:cNvSpPr/>
          <p:nvPr/>
        </p:nvSpPr>
        <p:spPr>
          <a:xfrm>
            <a:off x="548640" y="5074920"/>
            <a:ext cx="11109960" cy="1005840"/>
          </a:xfrm>
          <a:prstGeom prst="roundRect">
            <a:avLst>
              <a:gd name="adj" fmla="val 7273"/>
            </a:avLst>
          </a:prstGeom>
          <a:solidFill>
            <a:srgbClr val="1E2761"/>
          </a:solidFill>
          <a:ln/>
        </p:spPr>
        <p:txBody>
          <a:bodyPr/>
          <a:lstStyle/>
          <a:p>
            <a:endParaRPr lang="es-CL"/>
          </a:p>
        </p:txBody>
      </p:sp>
      <p:sp>
        <p:nvSpPr>
          <p:cNvPr id="25" name="Text 19"/>
          <p:cNvSpPr txBox="1"/>
          <p:nvPr/>
        </p:nvSpPr>
        <p:spPr>
          <a:xfrm>
            <a:off x="822960" y="5138928"/>
            <a:ext cx="10561320" cy="868680"/>
          </a:xfrm>
          <a:prstGeom prst="rect">
            <a:avLst/>
          </a:prstGeom>
          <a:noFill/>
          <a:ln/>
        </p:spPr>
        <p:txBody>
          <a:bodyPr wrap="square" rtlCol="0" anchor="ctr"/>
          <a:lstStyle/>
          <a:p>
            <a:pPr marL="0" indent="0">
              <a:lnSpc>
                <a:spcPct val="115000"/>
              </a:lnSpc>
              <a:buNone/>
            </a:pPr>
            <a:r>
              <a:rPr lang="en-US" sz="1200" dirty="0">
                <a:solidFill>
                  <a:srgbClr val="CADCFC"/>
                </a:solidFill>
                <a:latin typeface="Calibri" pitchFamily="34" charset="0"/>
                <a:ea typeface="Calibri" pitchFamily="34" charset="-122"/>
                <a:cs typeface="Calibri" pitchFamily="34" charset="-120"/>
              </a:rPr>
              <a:t>Registros: se eliminan 100 duplicados exactos y 4 registros con FinalGrade fuera de la escala oficial [1.0, 10.0] (0.08%) antes de construir el pipeline — la variable objetivo nunca se imputa, para no introducir una fuga de información artificial.</a:t>
            </a:r>
            <a:endParaRPr lang="en-US" sz="1200" dirty="0"/>
          </a:p>
        </p:txBody>
      </p:sp>
      <p:sp>
        <p:nvSpPr>
          <p:cNvPr id="26" name="Text 20"/>
          <p:cNvSpPr txBox="1"/>
          <p:nvPr/>
        </p:nvSpPr>
        <p:spPr>
          <a:xfrm>
            <a:off x="457200" y="6473952"/>
            <a:ext cx="8686800" cy="274320"/>
          </a:xfrm>
          <a:prstGeom prst="rect">
            <a:avLst/>
          </a:prstGeom>
          <a:noFill/>
          <a:ln/>
        </p:spPr>
        <p:txBody>
          <a:bodyPr wrap="square" rtlCol="0" anchor="ctr"/>
          <a:lstStyle/>
          <a:p>
            <a:pPr marL="0" indent="0">
              <a:buNone/>
            </a:pPr>
            <a:r>
              <a:rPr lang="en-US" sz="900" dirty="0">
                <a:solidFill>
                  <a:srgbClr val="9AA3B8"/>
                </a:solidFill>
                <a:latin typeface="Calibri" pitchFamily="34" charset="0"/>
                <a:ea typeface="Calibri" pitchFamily="34" charset="-122"/>
                <a:cs typeface="Calibri" pitchFamily="34" charset="-120"/>
              </a:rPr>
              <a:t>Evaluación 1 · Calidad y Preparación de Datos · Rendimiento Académico</a:t>
            </a:r>
            <a:endParaRPr lang="en-US" sz="900" dirty="0"/>
          </a:p>
        </p:txBody>
      </p:sp>
      <p:sp>
        <p:nvSpPr>
          <p:cNvPr id="27" name="Text 21"/>
          <p:cNvSpPr txBox="1"/>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7</a:t>
            </a:r>
            <a:endParaRPr lang="en-US" sz="900" dirty="0"/>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54864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Implementación reproducible con Pipeline</a:t>
            </a:r>
            <a:endParaRPr lang="en-US" sz="3000" dirty="0"/>
          </a:p>
        </p:txBody>
      </p:sp>
      <p:sp>
        <p:nvSpPr>
          <p:cNvPr id="3" name="Text 1"/>
          <p:cNvSpPr txBox="1"/>
          <p:nvPr/>
        </p:nvSpPr>
        <p:spPr>
          <a:xfrm>
            <a:off x="548640" y="960120"/>
            <a:ext cx="11064240" cy="365760"/>
          </a:xfrm>
          <a:prstGeom prst="rect">
            <a:avLst/>
          </a:prstGeom>
          <a:noFill/>
          <a:ln/>
        </p:spPr>
        <p:txBody>
          <a:bodyPr wrap="square" rtlCol="0" anchor="ctr"/>
          <a:lstStyle/>
          <a:p>
            <a:pPr marL="0" indent="0">
              <a:buNone/>
            </a:pPr>
            <a:r>
              <a:rPr lang="en-US" sz="1400" dirty="0">
                <a:solidFill>
                  <a:srgbClr val="4A5568"/>
                </a:solidFill>
                <a:latin typeface="Calibri" pitchFamily="34" charset="0"/>
                <a:ea typeface="Calibri" pitchFamily="34" charset="-122"/>
                <a:cs typeface="Calibri" pitchFamily="34" charset="-120"/>
              </a:rPr>
              <a:t>scikit-learn: Pipeline + ColumnTransformer sobre las variables de entrada (X)</a:t>
            </a:r>
            <a:endParaRPr lang="en-US" sz="1400" dirty="0"/>
          </a:p>
        </p:txBody>
      </p:sp>
      <p:sp>
        <p:nvSpPr>
          <p:cNvPr id="4" name="Shape 2"/>
          <p:cNvSpPr/>
          <p:nvPr/>
        </p:nvSpPr>
        <p:spPr>
          <a:xfrm>
            <a:off x="548640" y="1600200"/>
            <a:ext cx="5440680" cy="4480560"/>
          </a:xfrm>
          <a:prstGeom prst="roundRect">
            <a:avLst>
              <a:gd name="adj" fmla="val 2041"/>
            </a:avLst>
          </a:prstGeom>
          <a:solidFill>
            <a:srgbClr val="F0F3FA"/>
          </a:solidFill>
          <a:ln/>
        </p:spPr>
        <p:txBody>
          <a:bodyPr/>
          <a:lstStyle/>
          <a:p>
            <a:endParaRPr lang="es-CL"/>
          </a:p>
        </p:txBody>
      </p:sp>
      <p:sp>
        <p:nvSpPr>
          <p:cNvPr id="5" name="Shape 3"/>
          <p:cNvSpPr/>
          <p:nvPr/>
        </p:nvSpPr>
        <p:spPr>
          <a:xfrm>
            <a:off x="822960" y="1828800"/>
            <a:ext cx="548640" cy="548640"/>
          </a:xfrm>
          <a:prstGeom prst="ellipse">
            <a:avLst/>
          </a:prstGeom>
          <a:solidFill>
            <a:srgbClr val="5B7FDB"/>
          </a:solidFill>
          <a:ln/>
        </p:spPr>
        <p:txBody>
          <a:bodyPr/>
          <a:lstStyle/>
          <a:p>
            <a:endParaRPr lang="es-CL"/>
          </a:p>
        </p:txBody>
      </p:sp>
      <p:pic>
        <p:nvPicPr>
          <p:cNvPr id="6" name="Image 0" descr="icons/chart_line_white.png"/>
          <p:cNvPicPr>
            <a:picLocks noChangeAspect="1"/>
          </p:cNvPicPr>
          <p:nvPr/>
        </p:nvPicPr>
        <p:blipFill>
          <a:blip r:embed="rId3"/>
          <a:stretch>
            <a:fillRect/>
          </a:stretch>
        </p:blipFill>
        <p:spPr>
          <a:xfrm>
            <a:off x="954634" y="1960474"/>
            <a:ext cx="285293" cy="285293"/>
          </a:xfrm>
          <a:prstGeom prst="rect">
            <a:avLst/>
          </a:prstGeom>
        </p:spPr>
      </p:pic>
      <p:sp>
        <p:nvSpPr>
          <p:cNvPr id="7" name="Text 4"/>
          <p:cNvSpPr txBox="1"/>
          <p:nvPr/>
        </p:nvSpPr>
        <p:spPr>
          <a:xfrm>
            <a:off x="1508760" y="1874520"/>
            <a:ext cx="4297680" cy="41148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Sub-pipeline numérico</a:t>
            </a:r>
            <a:endParaRPr lang="en-US" sz="1500" dirty="0"/>
          </a:p>
        </p:txBody>
      </p:sp>
      <p:sp>
        <p:nvSpPr>
          <p:cNvPr id="8" name="Shape 5"/>
          <p:cNvSpPr/>
          <p:nvPr/>
        </p:nvSpPr>
        <p:spPr>
          <a:xfrm>
            <a:off x="868680" y="2514600"/>
            <a:ext cx="365760" cy="365760"/>
          </a:xfrm>
          <a:prstGeom prst="roundRect">
            <a:avLst>
              <a:gd name="adj" fmla="val 15000"/>
            </a:avLst>
          </a:prstGeom>
          <a:solidFill>
            <a:srgbClr val="1E2761"/>
          </a:solidFill>
          <a:ln/>
        </p:spPr>
        <p:txBody>
          <a:bodyPr/>
          <a:lstStyle/>
          <a:p>
            <a:endParaRPr lang="es-CL"/>
          </a:p>
        </p:txBody>
      </p:sp>
      <p:sp>
        <p:nvSpPr>
          <p:cNvPr id="9" name="Text 6"/>
          <p:cNvSpPr txBox="1"/>
          <p:nvPr/>
        </p:nvSpPr>
        <p:spPr>
          <a:xfrm>
            <a:off x="868680" y="2514600"/>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7"/>
          <p:cNvSpPr txBox="1"/>
          <p:nvPr/>
        </p:nvSpPr>
        <p:spPr>
          <a:xfrm>
            <a:off x="1371600" y="2514600"/>
            <a:ext cx="4434840" cy="365760"/>
          </a:xfrm>
          <a:prstGeom prst="rect">
            <a:avLst/>
          </a:prstGeom>
          <a:noFill/>
          <a:ln/>
        </p:spPr>
        <p:txBody>
          <a:bodyPr wrap="square" rtlCol="0" anchor="ctr"/>
          <a:lstStyle/>
          <a:p>
            <a:pPr marL="0" indent="0">
              <a:buNone/>
            </a:pPr>
            <a:r>
              <a:rPr lang="en-US" sz="1030" dirty="0">
                <a:solidFill>
                  <a:srgbClr val="4A5568"/>
                </a:solidFill>
                <a:latin typeface="Courier New" pitchFamily="34" charset="0"/>
                <a:ea typeface="Courier New" pitchFamily="34" charset="-122"/>
                <a:cs typeface="Courier New" pitchFamily="34" charset="-120"/>
              </a:rPr>
              <a:t>DomainRangeCleaner → invalida (NaN) fuera de rango físico</a:t>
            </a:r>
            <a:endParaRPr lang="en-US" sz="1030" dirty="0"/>
          </a:p>
        </p:txBody>
      </p:sp>
      <p:sp>
        <p:nvSpPr>
          <p:cNvPr id="11" name="Shape 8"/>
          <p:cNvSpPr/>
          <p:nvPr/>
        </p:nvSpPr>
        <p:spPr>
          <a:xfrm>
            <a:off x="868680" y="3044952"/>
            <a:ext cx="365760" cy="365760"/>
          </a:xfrm>
          <a:prstGeom prst="roundRect">
            <a:avLst>
              <a:gd name="adj" fmla="val 15000"/>
            </a:avLst>
          </a:prstGeom>
          <a:solidFill>
            <a:srgbClr val="1E2761"/>
          </a:solidFill>
          <a:ln/>
        </p:spPr>
        <p:txBody>
          <a:bodyPr/>
          <a:lstStyle/>
          <a:p>
            <a:endParaRPr lang="es-CL"/>
          </a:p>
        </p:txBody>
      </p:sp>
      <p:sp>
        <p:nvSpPr>
          <p:cNvPr id="12" name="Text 9"/>
          <p:cNvSpPr txBox="1"/>
          <p:nvPr/>
        </p:nvSpPr>
        <p:spPr>
          <a:xfrm>
            <a:off x="868680" y="3044952"/>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1371600" y="3044952"/>
            <a:ext cx="4434840" cy="365760"/>
          </a:xfrm>
          <a:prstGeom prst="rect">
            <a:avLst/>
          </a:prstGeom>
          <a:noFill/>
          <a:ln/>
        </p:spPr>
        <p:txBody>
          <a:bodyPr wrap="square" rtlCol="0" anchor="ctr"/>
          <a:lstStyle/>
          <a:p>
            <a:pPr marL="0" indent="0">
              <a:buNone/>
            </a:pPr>
            <a:r>
              <a:rPr lang="en-US" sz="1030" dirty="0">
                <a:solidFill>
                  <a:srgbClr val="4A5568"/>
                </a:solidFill>
                <a:latin typeface="Courier New" pitchFamily="34" charset="0"/>
                <a:ea typeface="Courier New" pitchFamily="34" charset="-122"/>
                <a:cs typeface="Courier New" pitchFamily="34" charset="-120"/>
              </a:rPr>
              <a:t>SimpleImputer(strategy="median")</a:t>
            </a:r>
            <a:endParaRPr lang="en-US" sz="1030" dirty="0"/>
          </a:p>
        </p:txBody>
      </p:sp>
      <p:sp>
        <p:nvSpPr>
          <p:cNvPr id="14" name="Shape 11"/>
          <p:cNvSpPr/>
          <p:nvPr/>
        </p:nvSpPr>
        <p:spPr>
          <a:xfrm>
            <a:off x="868680" y="3575304"/>
            <a:ext cx="365760" cy="365760"/>
          </a:xfrm>
          <a:prstGeom prst="roundRect">
            <a:avLst>
              <a:gd name="adj" fmla="val 15000"/>
            </a:avLst>
          </a:prstGeom>
          <a:solidFill>
            <a:srgbClr val="1E2761"/>
          </a:solidFill>
          <a:ln/>
        </p:spPr>
        <p:txBody>
          <a:bodyPr/>
          <a:lstStyle/>
          <a:p>
            <a:endParaRPr lang="es-CL"/>
          </a:p>
        </p:txBody>
      </p:sp>
      <p:sp>
        <p:nvSpPr>
          <p:cNvPr id="15" name="Text 12"/>
          <p:cNvSpPr txBox="1"/>
          <p:nvPr/>
        </p:nvSpPr>
        <p:spPr>
          <a:xfrm>
            <a:off x="868680" y="3575304"/>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3"/>
          <p:cNvSpPr txBox="1"/>
          <p:nvPr/>
        </p:nvSpPr>
        <p:spPr>
          <a:xfrm>
            <a:off x="1371600" y="3575304"/>
            <a:ext cx="4434840" cy="365760"/>
          </a:xfrm>
          <a:prstGeom prst="rect">
            <a:avLst/>
          </a:prstGeom>
          <a:noFill/>
          <a:ln/>
        </p:spPr>
        <p:txBody>
          <a:bodyPr wrap="square" rtlCol="0" anchor="ctr"/>
          <a:lstStyle/>
          <a:p>
            <a:pPr marL="0" indent="0">
              <a:buNone/>
            </a:pPr>
            <a:r>
              <a:rPr lang="en-US" sz="1030" dirty="0">
                <a:solidFill>
                  <a:srgbClr val="4A5568"/>
                </a:solidFill>
                <a:latin typeface="Courier New" pitchFamily="34" charset="0"/>
                <a:ea typeface="Courier New" pitchFamily="34" charset="-122"/>
                <a:cs typeface="Courier New" pitchFamily="34" charset="-120"/>
              </a:rPr>
              <a:t>IQRCapper(factor=1.5) → winsoriza outliers</a:t>
            </a:r>
            <a:endParaRPr lang="en-US" sz="1030" dirty="0"/>
          </a:p>
        </p:txBody>
      </p:sp>
      <p:sp>
        <p:nvSpPr>
          <p:cNvPr id="17" name="Shape 14"/>
          <p:cNvSpPr/>
          <p:nvPr/>
        </p:nvSpPr>
        <p:spPr>
          <a:xfrm>
            <a:off x="868680" y="4105656"/>
            <a:ext cx="365760" cy="365760"/>
          </a:xfrm>
          <a:prstGeom prst="roundRect">
            <a:avLst>
              <a:gd name="adj" fmla="val 15000"/>
            </a:avLst>
          </a:prstGeom>
          <a:solidFill>
            <a:srgbClr val="1E2761"/>
          </a:solidFill>
          <a:ln/>
        </p:spPr>
        <p:txBody>
          <a:bodyPr/>
          <a:lstStyle/>
          <a:p>
            <a:endParaRPr lang="es-CL"/>
          </a:p>
        </p:txBody>
      </p:sp>
      <p:sp>
        <p:nvSpPr>
          <p:cNvPr id="18" name="Text 15"/>
          <p:cNvSpPr txBox="1"/>
          <p:nvPr/>
        </p:nvSpPr>
        <p:spPr>
          <a:xfrm>
            <a:off x="868680" y="4105656"/>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6"/>
          <p:cNvSpPr txBox="1"/>
          <p:nvPr/>
        </p:nvSpPr>
        <p:spPr>
          <a:xfrm>
            <a:off x="1371600" y="4105656"/>
            <a:ext cx="4434840" cy="365760"/>
          </a:xfrm>
          <a:prstGeom prst="rect">
            <a:avLst/>
          </a:prstGeom>
          <a:noFill/>
          <a:ln/>
        </p:spPr>
        <p:txBody>
          <a:bodyPr wrap="square" rtlCol="0" anchor="ctr"/>
          <a:lstStyle/>
          <a:p>
            <a:pPr marL="0" indent="0">
              <a:buNone/>
            </a:pPr>
            <a:r>
              <a:rPr lang="en-US" sz="1030" dirty="0">
                <a:solidFill>
                  <a:srgbClr val="4A5568"/>
                </a:solidFill>
                <a:latin typeface="Courier New" pitchFamily="34" charset="0"/>
                <a:ea typeface="Courier New" pitchFamily="34" charset="-122"/>
                <a:cs typeface="Courier New" pitchFamily="34" charset="-120"/>
              </a:rPr>
              <a:t>StandardScaler()</a:t>
            </a:r>
            <a:endParaRPr lang="en-US" sz="1030" dirty="0"/>
          </a:p>
        </p:txBody>
      </p:sp>
      <p:sp>
        <p:nvSpPr>
          <p:cNvPr id="20" name="Text 17"/>
          <p:cNvSpPr txBox="1"/>
          <p:nvPr/>
        </p:nvSpPr>
        <p:spPr>
          <a:xfrm>
            <a:off x="868680" y="4727448"/>
            <a:ext cx="4846320" cy="548640"/>
          </a:xfrm>
          <a:prstGeom prst="rect">
            <a:avLst/>
          </a:prstGeom>
          <a:noFill/>
          <a:ln/>
        </p:spPr>
        <p:txBody>
          <a:bodyPr wrap="square" rtlCol="0" anchor="ctr"/>
          <a:lstStyle/>
          <a:p>
            <a:pPr marL="0" indent="0">
              <a:lnSpc>
                <a:spcPct val="110000"/>
              </a:lnSpc>
              <a:buNone/>
            </a:pPr>
            <a:r>
              <a:rPr lang="en-US" sz="1050" i="1" dirty="0">
                <a:solidFill>
                  <a:srgbClr val="4A5568"/>
                </a:solidFill>
                <a:latin typeface="Calibri" pitchFamily="34" charset="0"/>
                <a:ea typeface="Calibri" pitchFamily="34" charset="-122"/>
                <a:cs typeface="Calibri" pitchFamily="34" charset="-120"/>
              </a:rPr>
              <a:t>Aplica a: Age, StudyHours, Attendance, PreviousGPA, AssignmentsCompleted, SleepHours, InternetHours</a:t>
            </a:r>
            <a:endParaRPr lang="en-US" sz="1050" dirty="0"/>
          </a:p>
        </p:txBody>
      </p:sp>
      <p:sp>
        <p:nvSpPr>
          <p:cNvPr id="21" name="Shape 18"/>
          <p:cNvSpPr/>
          <p:nvPr/>
        </p:nvSpPr>
        <p:spPr>
          <a:xfrm>
            <a:off x="6199632" y="1600200"/>
            <a:ext cx="5440680" cy="4480560"/>
          </a:xfrm>
          <a:prstGeom prst="roundRect">
            <a:avLst>
              <a:gd name="adj" fmla="val 2041"/>
            </a:avLst>
          </a:prstGeom>
          <a:solidFill>
            <a:srgbClr val="F0F3FA"/>
          </a:solidFill>
          <a:ln/>
        </p:spPr>
        <p:txBody>
          <a:bodyPr/>
          <a:lstStyle/>
          <a:p>
            <a:endParaRPr lang="es-CL"/>
          </a:p>
        </p:txBody>
      </p:sp>
      <p:sp>
        <p:nvSpPr>
          <p:cNvPr id="22" name="Shape 19"/>
          <p:cNvSpPr/>
          <p:nvPr/>
        </p:nvSpPr>
        <p:spPr>
          <a:xfrm>
            <a:off x="6473952" y="1828800"/>
            <a:ext cx="548640" cy="548640"/>
          </a:xfrm>
          <a:prstGeom prst="ellipse">
            <a:avLst/>
          </a:prstGeom>
          <a:solidFill>
            <a:srgbClr val="3FA796"/>
          </a:solidFill>
          <a:ln/>
        </p:spPr>
        <p:txBody>
          <a:bodyPr/>
          <a:lstStyle/>
          <a:p>
            <a:endParaRPr lang="es-CL"/>
          </a:p>
        </p:txBody>
      </p:sp>
      <p:pic>
        <p:nvPicPr>
          <p:cNvPr id="23" name="Image 1" descr="icons/layers_white.png"/>
          <p:cNvPicPr>
            <a:picLocks noChangeAspect="1"/>
          </p:cNvPicPr>
          <p:nvPr/>
        </p:nvPicPr>
        <p:blipFill>
          <a:blip r:embed="rId4"/>
          <a:stretch>
            <a:fillRect/>
          </a:stretch>
        </p:blipFill>
        <p:spPr>
          <a:xfrm>
            <a:off x="6605626" y="1960474"/>
            <a:ext cx="285293" cy="285293"/>
          </a:xfrm>
          <a:prstGeom prst="rect">
            <a:avLst/>
          </a:prstGeom>
        </p:spPr>
      </p:pic>
      <p:sp>
        <p:nvSpPr>
          <p:cNvPr id="24" name="Text 20"/>
          <p:cNvSpPr txBox="1"/>
          <p:nvPr/>
        </p:nvSpPr>
        <p:spPr>
          <a:xfrm>
            <a:off x="7159752" y="1874520"/>
            <a:ext cx="4297680" cy="41148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Sub-pipeline categórico</a:t>
            </a:r>
            <a:endParaRPr lang="en-US" sz="1500" dirty="0"/>
          </a:p>
        </p:txBody>
      </p:sp>
      <p:sp>
        <p:nvSpPr>
          <p:cNvPr id="25" name="Shape 21"/>
          <p:cNvSpPr/>
          <p:nvPr/>
        </p:nvSpPr>
        <p:spPr>
          <a:xfrm>
            <a:off x="6519672" y="2514600"/>
            <a:ext cx="365760" cy="365760"/>
          </a:xfrm>
          <a:prstGeom prst="roundRect">
            <a:avLst>
              <a:gd name="adj" fmla="val 15000"/>
            </a:avLst>
          </a:prstGeom>
          <a:solidFill>
            <a:srgbClr val="1E2761"/>
          </a:solidFill>
          <a:ln/>
        </p:spPr>
        <p:txBody>
          <a:bodyPr/>
          <a:lstStyle/>
          <a:p>
            <a:endParaRPr lang="es-CL"/>
          </a:p>
        </p:txBody>
      </p:sp>
      <p:sp>
        <p:nvSpPr>
          <p:cNvPr id="26" name="Text 22"/>
          <p:cNvSpPr txBox="1"/>
          <p:nvPr/>
        </p:nvSpPr>
        <p:spPr>
          <a:xfrm>
            <a:off x="6519672" y="2514600"/>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7" name="Text 23"/>
          <p:cNvSpPr txBox="1"/>
          <p:nvPr/>
        </p:nvSpPr>
        <p:spPr>
          <a:xfrm>
            <a:off x="7022592" y="2514600"/>
            <a:ext cx="4434840" cy="365760"/>
          </a:xfrm>
          <a:prstGeom prst="rect">
            <a:avLst/>
          </a:prstGeom>
          <a:noFill/>
          <a:ln/>
        </p:spPr>
        <p:txBody>
          <a:bodyPr wrap="square" rtlCol="0" anchor="ctr"/>
          <a:lstStyle/>
          <a:p>
            <a:pPr marL="0" indent="0">
              <a:buNone/>
            </a:pPr>
            <a:r>
              <a:rPr lang="en-US" sz="1030" dirty="0">
                <a:solidFill>
                  <a:srgbClr val="4A5568"/>
                </a:solidFill>
                <a:latin typeface="Courier New" pitchFamily="34" charset="0"/>
                <a:ea typeface="Courier New" pitchFamily="34" charset="-122"/>
                <a:cs typeface="Courier New" pitchFamily="34" charset="-120"/>
              </a:rPr>
              <a:t>CategoricalNormalizer → unifica tildes/mayúsculas/espacios</a:t>
            </a:r>
            <a:endParaRPr lang="en-US" sz="1030" dirty="0"/>
          </a:p>
        </p:txBody>
      </p:sp>
      <p:sp>
        <p:nvSpPr>
          <p:cNvPr id="28" name="Shape 24"/>
          <p:cNvSpPr/>
          <p:nvPr/>
        </p:nvSpPr>
        <p:spPr>
          <a:xfrm>
            <a:off x="6519672" y="3044952"/>
            <a:ext cx="365760" cy="365760"/>
          </a:xfrm>
          <a:prstGeom prst="roundRect">
            <a:avLst>
              <a:gd name="adj" fmla="val 15000"/>
            </a:avLst>
          </a:prstGeom>
          <a:solidFill>
            <a:srgbClr val="1E2761"/>
          </a:solidFill>
          <a:ln/>
        </p:spPr>
        <p:txBody>
          <a:bodyPr/>
          <a:lstStyle/>
          <a:p>
            <a:endParaRPr lang="es-CL"/>
          </a:p>
        </p:txBody>
      </p:sp>
      <p:sp>
        <p:nvSpPr>
          <p:cNvPr id="29" name="Text 25"/>
          <p:cNvSpPr txBox="1"/>
          <p:nvPr/>
        </p:nvSpPr>
        <p:spPr>
          <a:xfrm>
            <a:off x="6519672" y="3044952"/>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0" name="Text 26"/>
          <p:cNvSpPr txBox="1"/>
          <p:nvPr/>
        </p:nvSpPr>
        <p:spPr>
          <a:xfrm>
            <a:off x="7022592" y="3044952"/>
            <a:ext cx="4434840" cy="365760"/>
          </a:xfrm>
          <a:prstGeom prst="rect">
            <a:avLst/>
          </a:prstGeom>
          <a:noFill/>
          <a:ln/>
        </p:spPr>
        <p:txBody>
          <a:bodyPr wrap="square" rtlCol="0" anchor="ctr"/>
          <a:lstStyle/>
          <a:p>
            <a:pPr marL="0" indent="0">
              <a:buNone/>
            </a:pPr>
            <a:r>
              <a:rPr lang="en-US" sz="1030" dirty="0">
                <a:solidFill>
                  <a:srgbClr val="4A5568"/>
                </a:solidFill>
                <a:latin typeface="Courier New" pitchFamily="34" charset="0"/>
                <a:ea typeface="Courier New" pitchFamily="34" charset="-122"/>
                <a:cs typeface="Courier New" pitchFamily="34" charset="-120"/>
              </a:rPr>
              <a:t>SimpleImputer(strategy="most_frequent")</a:t>
            </a:r>
            <a:endParaRPr lang="en-US" sz="1030" dirty="0"/>
          </a:p>
        </p:txBody>
      </p:sp>
      <p:sp>
        <p:nvSpPr>
          <p:cNvPr id="31" name="Shape 27"/>
          <p:cNvSpPr/>
          <p:nvPr/>
        </p:nvSpPr>
        <p:spPr>
          <a:xfrm>
            <a:off x="6519672" y="3575304"/>
            <a:ext cx="365760" cy="365760"/>
          </a:xfrm>
          <a:prstGeom prst="roundRect">
            <a:avLst>
              <a:gd name="adj" fmla="val 15000"/>
            </a:avLst>
          </a:prstGeom>
          <a:solidFill>
            <a:srgbClr val="1E2761"/>
          </a:solidFill>
          <a:ln/>
        </p:spPr>
        <p:txBody>
          <a:bodyPr/>
          <a:lstStyle/>
          <a:p>
            <a:endParaRPr lang="es-CL"/>
          </a:p>
        </p:txBody>
      </p:sp>
      <p:sp>
        <p:nvSpPr>
          <p:cNvPr id="32" name="Text 28"/>
          <p:cNvSpPr txBox="1"/>
          <p:nvPr/>
        </p:nvSpPr>
        <p:spPr>
          <a:xfrm>
            <a:off x="6519672" y="3575304"/>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3" name="Text 29"/>
          <p:cNvSpPr txBox="1"/>
          <p:nvPr/>
        </p:nvSpPr>
        <p:spPr>
          <a:xfrm>
            <a:off x="7022592" y="3575304"/>
            <a:ext cx="4434840" cy="365760"/>
          </a:xfrm>
          <a:prstGeom prst="rect">
            <a:avLst/>
          </a:prstGeom>
          <a:noFill/>
          <a:ln/>
        </p:spPr>
        <p:txBody>
          <a:bodyPr wrap="square" rtlCol="0" anchor="ctr"/>
          <a:lstStyle/>
          <a:p>
            <a:pPr marL="0" indent="0">
              <a:buNone/>
            </a:pPr>
            <a:r>
              <a:rPr lang="en-US" sz="1030" dirty="0">
                <a:solidFill>
                  <a:srgbClr val="4A5568"/>
                </a:solidFill>
                <a:latin typeface="Courier New" pitchFamily="34" charset="0"/>
                <a:ea typeface="Courier New" pitchFamily="34" charset="-122"/>
                <a:cs typeface="Courier New" pitchFamily="34" charset="-120"/>
              </a:rPr>
              <a:t>OneHotEncoder(handle_unknown="ignore")</a:t>
            </a:r>
            <a:endParaRPr lang="en-US" sz="1030" dirty="0"/>
          </a:p>
        </p:txBody>
      </p:sp>
      <p:sp>
        <p:nvSpPr>
          <p:cNvPr id="34" name="Text 30"/>
          <p:cNvSpPr txBox="1"/>
          <p:nvPr/>
        </p:nvSpPr>
        <p:spPr>
          <a:xfrm>
            <a:off x="6519672" y="4197096"/>
            <a:ext cx="4846320" cy="548640"/>
          </a:xfrm>
          <a:prstGeom prst="rect">
            <a:avLst/>
          </a:prstGeom>
          <a:noFill/>
          <a:ln/>
        </p:spPr>
        <p:txBody>
          <a:bodyPr wrap="square" rtlCol="0" anchor="ctr"/>
          <a:lstStyle/>
          <a:p>
            <a:pPr marL="0" indent="0">
              <a:lnSpc>
                <a:spcPct val="110000"/>
              </a:lnSpc>
              <a:buNone/>
            </a:pPr>
            <a:r>
              <a:rPr lang="en-US" sz="1050" i="1" dirty="0">
                <a:solidFill>
                  <a:srgbClr val="4A5568"/>
                </a:solidFill>
                <a:latin typeface="Calibri" pitchFamily="34" charset="0"/>
                <a:ea typeface="Calibri" pitchFamily="34" charset="-122"/>
                <a:cs typeface="Calibri" pitchFamily="34" charset="-120"/>
              </a:rPr>
              <a:t>Aplica a: Scholarship, Program  ·  Ambos sub-pipelines se combinan en un ColumnTransformer</a:t>
            </a:r>
            <a:endParaRPr lang="en-US" sz="1050" dirty="0"/>
          </a:p>
        </p:txBody>
      </p:sp>
      <p:sp>
        <p:nvSpPr>
          <p:cNvPr id="35" name="Text 31"/>
          <p:cNvSpPr txBox="1"/>
          <p:nvPr/>
        </p:nvSpPr>
        <p:spPr>
          <a:xfrm>
            <a:off x="6519672" y="4892040"/>
            <a:ext cx="4892040" cy="1051560"/>
          </a:xfrm>
          <a:prstGeom prst="rect">
            <a:avLst/>
          </a:prstGeom>
          <a:noFill/>
          <a:ln/>
        </p:spPr>
        <p:txBody>
          <a:bodyPr wrap="square" rtlCol="0" anchor="ctr"/>
          <a:lstStyle/>
          <a:p>
            <a:pPr marL="0" indent="0">
              <a:lnSpc>
                <a:spcPct val="115000"/>
              </a:lnSpc>
              <a:buNone/>
            </a:pPr>
            <a:r>
              <a:rPr lang="en-US" sz="1080" dirty="0">
                <a:solidFill>
                  <a:srgbClr val="4A5568"/>
                </a:solidFill>
                <a:latin typeface="Calibri" pitchFamily="34" charset="0"/>
                <a:ea typeface="Calibri" pitchFamily="34" charset="-122"/>
                <a:cs typeface="Calibri" pitchFamily="34" charset="-120"/>
              </a:rPr>
              <a:t>Transformadores personalizados (BaseEstimator + TransformerMixin), compatibles con get_feature_names_out(). FinalGrade se separa de X antes de todo el proceso, y el pipeline puede volver a ejecutarse sobre el CSV original con el mismo resultado.</a:t>
            </a:r>
            <a:endParaRPr lang="en-US" sz="1080" dirty="0"/>
          </a:p>
        </p:txBody>
      </p:sp>
      <p:sp>
        <p:nvSpPr>
          <p:cNvPr id="36" name="Text 32"/>
          <p:cNvSpPr txBox="1"/>
          <p:nvPr/>
        </p:nvSpPr>
        <p:spPr>
          <a:xfrm>
            <a:off x="457200" y="6473952"/>
            <a:ext cx="8686800" cy="274320"/>
          </a:xfrm>
          <a:prstGeom prst="rect">
            <a:avLst/>
          </a:prstGeom>
          <a:noFill/>
          <a:ln/>
        </p:spPr>
        <p:txBody>
          <a:bodyPr wrap="square" rtlCol="0" anchor="ctr"/>
          <a:lstStyle/>
          <a:p>
            <a:pPr marL="0" indent="0">
              <a:buNone/>
            </a:pPr>
            <a:r>
              <a:rPr lang="en-US" sz="900" dirty="0">
                <a:solidFill>
                  <a:srgbClr val="9AA3B8"/>
                </a:solidFill>
                <a:latin typeface="Calibri" pitchFamily="34" charset="0"/>
                <a:ea typeface="Calibri" pitchFamily="34" charset="-122"/>
                <a:cs typeface="Calibri" pitchFamily="34" charset="-120"/>
              </a:rPr>
              <a:t>Evaluación 1 · Calidad y Preparación de Datos · Rendimiento Académico</a:t>
            </a:r>
            <a:endParaRPr lang="en-US" sz="900" dirty="0"/>
          </a:p>
        </p:txBody>
      </p:sp>
      <p:sp>
        <p:nvSpPr>
          <p:cNvPr id="37" name="Text 33"/>
          <p:cNvSpPr txBox="1"/>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8</a:t>
            </a:r>
            <a:endParaRPr lang="en-US" sz="900" dirty="0"/>
          </a:p>
        </p:txBody>
      </p:sp>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5486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Dataset final y estado de calidad</a:t>
            </a:r>
            <a:endParaRPr lang="en-US" sz="3000" dirty="0"/>
          </a:p>
        </p:txBody>
      </p:sp>
      <p:sp>
        <p:nvSpPr>
          <p:cNvPr id="3" name="Text 1"/>
          <p:cNvSpPr txBox="1"/>
          <p:nvPr/>
        </p:nvSpPr>
        <p:spPr>
          <a:xfrm>
            <a:off x="548640" y="960120"/>
            <a:ext cx="11064240" cy="365760"/>
          </a:xfrm>
          <a:prstGeom prst="rect">
            <a:avLst/>
          </a:prstGeom>
          <a:noFill/>
          <a:ln/>
        </p:spPr>
        <p:txBody>
          <a:bodyPr wrap="square" rtlCol="0" anchor="ctr"/>
          <a:lstStyle/>
          <a:p>
            <a:pPr marL="0" indent="0">
              <a:buNone/>
            </a:pPr>
            <a:r>
              <a:rPr lang="en-US" sz="1400" dirty="0">
                <a:solidFill>
                  <a:srgbClr val="CADCFC"/>
                </a:solidFill>
                <a:latin typeface="Calibri" pitchFamily="34" charset="0"/>
                <a:ea typeface="Calibri" pitchFamily="34" charset="-122"/>
                <a:cs typeface="Calibri" pitchFamily="34" charset="-120"/>
              </a:rPr>
              <a:t>Comparación entre el dataset original y el dataset tratado</a:t>
            </a:r>
            <a:endParaRPr lang="en-US" sz="1400" dirty="0"/>
          </a:p>
        </p:txBody>
      </p:sp>
      <p:sp>
        <p:nvSpPr>
          <p:cNvPr id="4" name="Text 2"/>
          <p:cNvSpPr txBox="1"/>
          <p:nvPr/>
        </p:nvSpPr>
        <p:spPr>
          <a:xfrm>
            <a:off x="640080" y="1600200"/>
            <a:ext cx="5120640" cy="365760"/>
          </a:xfrm>
          <a:prstGeom prst="rect">
            <a:avLst/>
          </a:prstGeom>
          <a:noFill/>
          <a:ln/>
        </p:spPr>
        <p:txBody>
          <a:bodyPr wrap="square" rtlCol="0" anchor="ctr"/>
          <a:lstStyle/>
          <a:p>
            <a:pPr marL="0" indent="0">
              <a:buNone/>
            </a:pPr>
            <a:r>
              <a:rPr lang="en-US" sz="1150" b="1" kern="0" spc="100" dirty="0" err="1">
                <a:solidFill>
                  <a:srgbClr val="BACBED"/>
                </a:solidFill>
                <a:latin typeface="Calibri" pitchFamily="34" charset="0"/>
                <a:ea typeface="Calibri" pitchFamily="34" charset="-122"/>
                <a:cs typeface="Calibri" pitchFamily="34" charset="-120"/>
              </a:rPr>
              <a:t>Indicador</a:t>
            </a:r>
            <a:endParaRPr lang="en-US" sz="1150" dirty="0">
              <a:solidFill>
                <a:srgbClr val="BACBED"/>
              </a:solidFill>
            </a:endParaRPr>
          </a:p>
        </p:txBody>
      </p:sp>
      <p:sp>
        <p:nvSpPr>
          <p:cNvPr id="5" name="Text 3"/>
          <p:cNvSpPr txBox="1"/>
          <p:nvPr/>
        </p:nvSpPr>
        <p:spPr>
          <a:xfrm>
            <a:off x="5943600" y="1600200"/>
            <a:ext cx="2011680" cy="365760"/>
          </a:xfrm>
          <a:prstGeom prst="rect">
            <a:avLst/>
          </a:prstGeom>
          <a:noFill/>
          <a:ln/>
        </p:spPr>
        <p:txBody>
          <a:bodyPr wrap="square" rtlCol="0" anchor="ctr"/>
          <a:lstStyle/>
          <a:p>
            <a:pPr marL="0" indent="0" algn="ctr">
              <a:buNone/>
            </a:pPr>
            <a:r>
              <a:rPr lang="en-US" sz="1150" b="1" kern="0" spc="100" dirty="0">
                <a:solidFill>
                  <a:srgbClr val="BACBED"/>
                </a:solidFill>
                <a:latin typeface="Calibri" pitchFamily="34" charset="0"/>
                <a:ea typeface="Calibri" pitchFamily="34" charset="-122"/>
                <a:cs typeface="Calibri" pitchFamily="34" charset="-120"/>
              </a:rPr>
              <a:t>Original</a:t>
            </a:r>
            <a:endParaRPr lang="en-US" sz="1150" dirty="0">
              <a:solidFill>
                <a:srgbClr val="BACBED"/>
              </a:solidFill>
            </a:endParaRPr>
          </a:p>
        </p:txBody>
      </p:sp>
      <p:sp>
        <p:nvSpPr>
          <p:cNvPr id="6" name="Text 4"/>
          <p:cNvSpPr txBox="1"/>
          <p:nvPr/>
        </p:nvSpPr>
        <p:spPr>
          <a:xfrm>
            <a:off x="8138160" y="1600200"/>
            <a:ext cx="2011680" cy="365760"/>
          </a:xfrm>
          <a:prstGeom prst="rect">
            <a:avLst/>
          </a:prstGeom>
          <a:noFill/>
          <a:ln/>
        </p:spPr>
        <p:txBody>
          <a:bodyPr wrap="square" rtlCol="0" anchor="ctr"/>
          <a:lstStyle/>
          <a:p>
            <a:pPr marL="0" indent="0" algn="ctr">
              <a:buNone/>
            </a:pPr>
            <a:r>
              <a:rPr lang="en-US" sz="1150" b="1" kern="0" spc="100" dirty="0">
                <a:solidFill>
                  <a:srgbClr val="BACBED"/>
                </a:solidFill>
                <a:latin typeface="Calibri" pitchFamily="34" charset="0"/>
                <a:ea typeface="Calibri" pitchFamily="34" charset="-122"/>
                <a:cs typeface="Calibri" pitchFamily="34" charset="-120"/>
              </a:rPr>
              <a:t>Tratado</a:t>
            </a:r>
            <a:endParaRPr lang="en-US" sz="1150" dirty="0">
              <a:solidFill>
                <a:srgbClr val="BACBED"/>
              </a:solidFill>
            </a:endParaRPr>
          </a:p>
        </p:txBody>
      </p:sp>
      <p:sp>
        <p:nvSpPr>
          <p:cNvPr id="7" name="Shape 5"/>
          <p:cNvSpPr/>
          <p:nvPr/>
        </p:nvSpPr>
        <p:spPr>
          <a:xfrm>
            <a:off x="548640" y="2057400"/>
            <a:ext cx="9966960" cy="502920"/>
          </a:xfrm>
          <a:prstGeom prst="rect">
            <a:avLst/>
          </a:prstGeom>
          <a:solidFill>
            <a:srgbClr val="141B4D"/>
          </a:solidFill>
          <a:ln/>
        </p:spPr>
        <p:txBody>
          <a:bodyPr/>
          <a:lstStyle/>
          <a:p>
            <a:endParaRPr lang="es-CL"/>
          </a:p>
        </p:txBody>
      </p:sp>
      <p:sp>
        <p:nvSpPr>
          <p:cNvPr id="8" name="Text 6"/>
          <p:cNvSpPr txBox="1"/>
          <p:nvPr/>
        </p:nvSpPr>
        <p:spPr>
          <a:xfrm>
            <a:off x="640080" y="2057400"/>
            <a:ext cx="5120640" cy="5029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Registros</a:t>
            </a:r>
            <a:endParaRPr lang="en-US" sz="1250" dirty="0"/>
          </a:p>
        </p:txBody>
      </p:sp>
      <p:sp>
        <p:nvSpPr>
          <p:cNvPr id="9" name="Text 7"/>
          <p:cNvSpPr txBox="1"/>
          <p:nvPr/>
        </p:nvSpPr>
        <p:spPr>
          <a:xfrm>
            <a:off x="5943600" y="2057400"/>
            <a:ext cx="2011680" cy="502920"/>
          </a:xfrm>
          <a:prstGeom prst="rect">
            <a:avLst/>
          </a:prstGeom>
          <a:noFill/>
          <a:ln/>
        </p:spPr>
        <p:txBody>
          <a:bodyPr wrap="square" rtlCol="0" anchor="ctr"/>
          <a:lstStyle/>
          <a:p>
            <a:pPr marL="0" indent="0" algn="ctr">
              <a:buNone/>
            </a:pPr>
            <a:r>
              <a:rPr lang="en-US" sz="1250" dirty="0">
                <a:solidFill>
                  <a:srgbClr val="C8D2EE"/>
                </a:solidFill>
                <a:latin typeface="Calibri" pitchFamily="34" charset="0"/>
                <a:ea typeface="Calibri" pitchFamily="34" charset="-122"/>
                <a:cs typeface="Calibri" pitchFamily="34" charset="-120"/>
              </a:rPr>
              <a:t>5.100</a:t>
            </a:r>
            <a:endParaRPr lang="en-US" sz="1250" dirty="0"/>
          </a:p>
        </p:txBody>
      </p:sp>
      <p:sp>
        <p:nvSpPr>
          <p:cNvPr id="10" name="Text 8"/>
          <p:cNvSpPr txBox="1"/>
          <p:nvPr/>
        </p:nvSpPr>
        <p:spPr>
          <a:xfrm>
            <a:off x="8138160" y="2057400"/>
            <a:ext cx="2011680" cy="502920"/>
          </a:xfrm>
          <a:prstGeom prst="rect">
            <a:avLst/>
          </a:prstGeom>
          <a:noFill/>
          <a:ln/>
        </p:spPr>
        <p:txBody>
          <a:bodyPr wrap="square" rtlCol="0" anchor="ctr"/>
          <a:lstStyle/>
          <a:p>
            <a:pPr marL="0" indent="0" algn="ctr">
              <a:buNone/>
            </a:pPr>
            <a:r>
              <a:rPr lang="en-US" sz="1300" b="1" dirty="0">
                <a:solidFill>
                  <a:srgbClr val="3FA796"/>
                </a:solidFill>
                <a:latin typeface="Calibri" pitchFamily="34" charset="0"/>
                <a:ea typeface="Calibri" pitchFamily="34" charset="-122"/>
                <a:cs typeface="Calibri" pitchFamily="34" charset="-120"/>
              </a:rPr>
              <a:t>4.996</a:t>
            </a:r>
            <a:endParaRPr lang="en-US" sz="1300" dirty="0"/>
          </a:p>
        </p:txBody>
      </p:sp>
      <p:sp>
        <p:nvSpPr>
          <p:cNvPr id="11" name="Shape 9"/>
          <p:cNvSpPr/>
          <p:nvPr/>
        </p:nvSpPr>
        <p:spPr>
          <a:xfrm>
            <a:off x="548640" y="2560320"/>
            <a:ext cx="9966960" cy="502920"/>
          </a:xfrm>
          <a:prstGeom prst="rect">
            <a:avLst/>
          </a:prstGeom>
          <a:solidFill>
            <a:srgbClr val="1E2761"/>
          </a:solidFill>
          <a:ln/>
        </p:spPr>
        <p:txBody>
          <a:bodyPr/>
          <a:lstStyle/>
          <a:p>
            <a:endParaRPr lang="es-CL"/>
          </a:p>
        </p:txBody>
      </p:sp>
      <p:sp>
        <p:nvSpPr>
          <p:cNvPr id="12" name="Text 10"/>
          <p:cNvSpPr txBox="1"/>
          <p:nvPr/>
        </p:nvSpPr>
        <p:spPr>
          <a:xfrm>
            <a:off x="640080" y="2560320"/>
            <a:ext cx="5120640" cy="5029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Variables</a:t>
            </a:r>
            <a:endParaRPr lang="en-US" sz="1250" dirty="0"/>
          </a:p>
        </p:txBody>
      </p:sp>
      <p:sp>
        <p:nvSpPr>
          <p:cNvPr id="13" name="Text 11"/>
          <p:cNvSpPr txBox="1"/>
          <p:nvPr/>
        </p:nvSpPr>
        <p:spPr>
          <a:xfrm>
            <a:off x="5943600" y="2560320"/>
            <a:ext cx="2011680" cy="502920"/>
          </a:xfrm>
          <a:prstGeom prst="rect">
            <a:avLst/>
          </a:prstGeom>
          <a:noFill/>
          <a:ln/>
        </p:spPr>
        <p:txBody>
          <a:bodyPr wrap="square" rtlCol="0" anchor="ctr"/>
          <a:lstStyle/>
          <a:p>
            <a:pPr marL="0" indent="0" algn="ctr">
              <a:buNone/>
            </a:pPr>
            <a:r>
              <a:rPr lang="en-US" sz="1250" dirty="0">
                <a:solidFill>
                  <a:srgbClr val="C8D2EE"/>
                </a:solidFill>
                <a:latin typeface="Calibri" pitchFamily="34" charset="0"/>
                <a:ea typeface="Calibri" pitchFamily="34" charset="-122"/>
                <a:cs typeface="Calibri" pitchFamily="34" charset="-120"/>
              </a:rPr>
              <a:t>11</a:t>
            </a:r>
            <a:endParaRPr lang="en-US" sz="1250" dirty="0"/>
          </a:p>
        </p:txBody>
      </p:sp>
      <p:sp>
        <p:nvSpPr>
          <p:cNvPr id="14" name="Text 12"/>
          <p:cNvSpPr txBox="1"/>
          <p:nvPr/>
        </p:nvSpPr>
        <p:spPr>
          <a:xfrm>
            <a:off x="8138160" y="2560320"/>
            <a:ext cx="2011680" cy="502920"/>
          </a:xfrm>
          <a:prstGeom prst="rect">
            <a:avLst/>
          </a:prstGeom>
          <a:noFill/>
          <a:ln/>
        </p:spPr>
        <p:txBody>
          <a:bodyPr wrap="square" rtlCol="0" anchor="ctr"/>
          <a:lstStyle/>
          <a:p>
            <a:pPr marL="0" indent="0" algn="ctr">
              <a:buNone/>
            </a:pPr>
            <a:r>
              <a:rPr lang="en-US" sz="1300" b="1" dirty="0">
                <a:solidFill>
                  <a:srgbClr val="3FA796"/>
                </a:solidFill>
                <a:latin typeface="Calibri" pitchFamily="34" charset="0"/>
                <a:ea typeface="Calibri" pitchFamily="34" charset="-122"/>
                <a:cs typeface="Calibri" pitchFamily="34" charset="-120"/>
              </a:rPr>
              <a:t>16*</a:t>
            </a:r>
            <a:endParaRPr lang="en-US" sz="1300" dirty="0"/>
          </a:p>
        </p:txBody>
      </p:sp>
      <p:sp>
        <p:nvSpPr>
          <p:cNvPr id="15" name="Shape 13"/>
          <p:cNvSpPr/>
          <p:nvPr/>
        </p:nvSpPr>
        <p:spPr>
          <a:xfrm>
            <a:off x="548640" y="3063240"/>
            <a:ext cx="9966960" cy="502920"/>
          </a:xfrm>
          <a:prstGeom prst="rect">
            <a:avLst/>
          </a:prstGeom>
          <a:solidFill>
            <a:srgbClr val="141B4D"/>
          </a:solidFill>
          <a:ln/>
        </p:spPr>
        <p:txBody>
          <a:bodyPr/>
          <a:lstStyle/>
          <a:p>
            <a:endParaRPr lang="es-CL"/>
          </a:p>
        </p:txBody>
      </p:sp>
      <p:sp>
        <p:nvSpPr>
          <p:cNvPr id="16" name="Text 14"/>
          <p:cNvSpPr txBox="1"/>
          <p:nvPr/>
        </p:nvSpPr>
        <p:spPr>
          <a:xfrm>
            <a:off x="640080" y="3063240"/>
            <a:ext cx="5120640" cy="5029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Valores faltantes</a:t>
            </a:r>
            <a:endParaRPr lang="en-US" sz="1250" dirty="0"/>
          </a:p>
        </p:txBody>
      </p:sp>
      <p:sp>
        <p:nvSpPr>
          <p:cNvPr id="17" name="Text 15"/>
          <p:cNvSpPr txBox="1"/>
          <p:nvPr/>
        </p:nvSpPr>
        <p:spPr>
          <a:xfrm>
            <a:off x="5943600" y="3063240"/>
            <a:ext cx="2011680" cy="502920"/>
          </a:xfrm>
          <a:prstGeom prst="rect">
            <a:avLst/>
          </a:prstGeom>
          <a:noFill/>
          <a:ln/>
        </p:spPr>
        <p:txBody>
          <a:bodyPr wrap="square" rtlCol="0" anchor="ctr"/>
          <a:lstStyle/>
          <a:p>
            <a:pPr marL="0" indent="0" algn="ctr">
              <a:buNone/>
            </a:pPr>
            <a:r>
              <a:rPr lang="en-US" sz="1250" dirty="0">
                <a:solidFill>
                  <a:srgbClr val="C8D2EE"/>
                </a:solidFill>
                <a:latin typeface="Calibri" pitchFamily="34" charset="0"/>
                <a:ea typeface="Calibri" pitchFamily="34" charset="-122"/>
                <a:cs typeface="Calibri" pitchFamily="34" charset="-120"/>
              </a:rPr>
              <a:t>1.335</a:t>
            </a:r>
            <a:endParaRPr lang="en-US" sz="1250" dirty="0"/>
          </a:p>
        </p:txBody>
      </p:sp>
      <p:sp>
        <p:nvSpPr>
          <p:cNvPr id="18" name="Text 16"/>
          <p:cNvSpPr txBox="1"/>
          <p:nvPr/>
        </p:nvSpPr>
        <p:spPr>
          <a:xfrm>
            <a:off x="8138160" y="3063240"/>
            <a:ext cx="2011680" cy="502920"/>
          </a:xfrm>
          <a:prstGeom prst="rect">
            <a:avLst/>
          </a:prstGeom>
          <a:noFill/>
          <a:ln/>
        </p:spPr>
        <p:txBody>
          <a:bodyPr wrap="square" rtlCol="0" anchor="ctr"/>
          <a:lstStyle/>
          <a:p>
            <a:pPr marL="0" indent="0" algn="ctr">
              <a:buNone/>
            </a:pPr>
            <a:r>
              <a:rPr lang="en-US" sz="1300" b="1" dirty="0">
                <a:solidFill>
                  <a:srgbClr val="3FA796"/>
                </a:solidFill>
                <a:latin typeface="Calibri" pitchFamily="34" charset="0"/>
                <a:ea typeface="Calibri" pitchFamily="34" charset="-122"/>
                <a:cs typeface="Calibri" pitchFamily="34" charset="-120"/>
              </a:rPr>
              <a:t>0</a:t>
            </a:r>
            <a:endParaRPr lang="en-US" sz="1300" dirty="0"/>
          </a:p>
        </p:txBody>
      </p:sp>
      <p:sp>
        <p:nvSpPr>
          <p:cNvPr id="19" name="Shape 17"/>
          <p:cNvSpPr/>
          <p:nvPr/>
        </p:nvSpPr>
        <p:spPr>
          <a:xfrm>
            <a:off x="548640" y="3566160"/>
            <a:ext cx="9966960" cy="502920"/>
          </a:xfrm>
          <a:prstGeom prst="rect">
            <a:avLst/>
          </a:prstGeom>
          <a:solidFill>
            <a:srgbClr val="1E2761"/>
          </a:solidFill>
          <a:ln/>
        </p:spPr>
        <p:txBody>
          <a:bodyPr/>
          <a:lstStyle/>
          <a:p>
            <a:endParaRPr lang="es-CL"/>
          </a:p>
        </p:txBody>
      </p:sp>
      <p:sp>
        <p:nvSpPr>
          <p:cNvPr id="20" name="Text 18"/>
          <p:cNvSpPr txBox="1"/>
          <p:nvPr/>
        </p:nvSpPr>
        <p:spPr>
          <a:xfrm>
            <a:off x="640080" y="3566160"/>
            <a:ext cx="5120640" cy="5029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Registros duplicados</a:t>
            </a:r>
            <a:endParaRPr lang="en-US" sz="1250" dirty="0"/>
          </a:p>
        </p:txBody>
      </p:sp>
      <p:sp>
        <p:nvSpPr>
          <p:cNvPr id="21" name="Text 19"/>
          <p:cNvSpPr txBox="1"/>
          <p:nvPr/>
        </p:nvSpPr>
        <p:spPr>
          <a:xfrm>
            <a:off x="5943600" y="3566160"/>
            <a:ext cx="2011680" cy="502920"/>
          </a:xfrm>
          <a:prstGeom prst="rect">
            <a:avLst/>
          </a:prstGeom>
          <a:noFill/>
          <a:ln/>
        </p:spPr>
        <p:txBody>
          <a:bodyPr wrap="square" rtlCol="0" anchor="ctr"/>
          <a:lstStyle/>
          <a:p>
            <a:pPr marL="0" indent="0" algn="ctr">
              <a:buNone/>
            </a:pPr>
            <a:r>
              <a:rPr lang="en-US" sz="1250" dirty="0">
                <a:solidFill>
                  <a:srgbClr val="C8D2EE"/>
                </a:solidFill>
                <a:latin typeface="Calibri" pitchFamily="34" charset="0"/>
                <a:ea typeface="Calibri" pitchFamily="34" charset="-122"/>
                <a:cs typeface="Calibri" pitchFamily="34" charset="-120"/>
              </a:rPr>
              <a:t>100</a:t>
            </a:r>
            <a:endParaRPr lang="en-US" sz="1250" dirty="0"/>
          </a:p>
        </p:txBody>
      </p:sp>
      <p:sp>
        <p:nvSpPr>
          <p:cNvPr id="22" name="Text 20"/>
          <p:cNvSpPr txBox="1"/>
          <p:nvPr/>
        </p:nvSpPr>
        <p:spPr>
          <a:xfrm>
            <a:off x="8138160" y="3566160"/>
            <a:ext cx="2011680" cy="502920"/>
          </a:xfrm>
          <a:prstGeom prst="rect">
            <a:avLst/>
          </a:prstGeom>
          <a:noFill/>
          <a:ln/>
        </p:spPr>
        <p:txBody>
          <a:bodyPr wrap="square" rtlCol="0" anchor="ctr"/>
          <a:lstStyle/>
          <a:p>
            <a:pPr marL="0" indent="0" algn="ctr">
              <a:buNone/>
            </a:pPr>
            <a:r>
              <a:rPr lang="en-US" sz="1300" b="1" dirty="0">
                <a:solidFill>
                  <a:srgbClr val="3FA796"/>
                </a:solidFill>
                <a:latin typeface="Calibri" pitchFamily="34" charset="0"/>
                <a:ea typeface="Calibri" pitchFamily="34" charset="-122"/>
                <a:cs typeface="Calibri" pitchFamily="34" charset="-120"/>
              </a:rPr>
              <a:t>0</a:t>
            </a:r>
            <a:endParaRPr lang="en-US" sz="1300" dirty="0"/>
          </a:p>
        </p:txBody>
      </p:sp>
      <p:sp>
        <p:nvSpPr>
          <p:cNvPr id="23" name="Shape 21"/>
          <p:cNvSpPr/>
          <p:nvPr/>
        </p:nvSpPr>
        <p:spPr>
          <a:xfrm>
            <a:off x="548640" y="4069080"/>
            <a:ext cx="9966960" cy="502920"/>
          </a:xfrm>
          <a:prstGeom prst="rect">
            <a:avLst/>
          </a:prstGeom>
          <a:solidFill>
            <a:srgbClr val="141B4D"/>
          </a:solidFill>
          <a:ln/>
        </p:spPr>
        <p:txBody>
          <a:bodyPr/>
          <a:lstStyle/>
          <a:p>
            <a:endParaRPr lang="es-CL"/>
          </a:p>
        </p:txBody>
      </p:sp>
      <p:sp>
        <p:nvSpPr>
          <p:cNvPr id="24" name="Text 22"/>
          <p:cNvSpPr txBox="1"/>
          <p:nvPr/>
        </p:nvSpPr>
        <p:spPr>
          <a:xfrm>
            <a:off x="640080" y="4069080"/>
            <a:ext cx="5120640" cy="5029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Inconsistencias (dominio + formato)</a:t>
            </a:r>
            <a:endParaRPr lang="en-US" sz="1250" dirty="0"/>
          </a:p>
        </p:txBody>
      </p:sp>
      <p:sp>
        <p:nvSpPr>
          <p:cNvPr id="25" name="Text 23"/>
          <p:cNvSpPr txBox="1"/>
          <p:nvPr/>
        </p:nvSpPr>
        <p:spPr>
          <a:xfrm>
            <a:off x="5943600" y="4069080"/>
            <a:ext cx="2011680" cy="502920"/>
          </a:xfrm>
          <a:prstGeom prst="rect">
            <a:avLst/>
          </a:prstGeom>
          <a:noFill/>
          <a:ln/>
        </p:spPr>
        <p:txBody>
          <a:bodyPr wrap="square" rtlCol="0" anchor="ctr"/>
          <a:lstStyle/>
          <a:p>
            <a:pPr marL="0" indent="0" algn="ctr">
              <a:buNone/>
            </a:pPr>
            <a:r>
              <a:rPr lang="en-US" sz="1250" dirty="0">
                <a:solidFill>
                  <a:srgbClr val="C8D2EE"/>
                </a:solidFill>
                <a:latin typeface="Calibri" pitchFamily="34" charset="0"/>
                <a:ea typeface="Calibri" pitchFamily="34" charset="-122"/>
                <a:cs typeface="Calibri" pitchFamily="34" charset="-120"/>
              </a:rPr>
              <a:t>134</a:t>
            </a:r>
            <a:endParaRPr lang="en-US" sz="1250" dirty="0"/>
          </a:p>
        </p:txBody>
      </p:sp>
      <p:sp>
        <p:nvSpPr>
          <p:cNvPr id="26" name="Text 24"/>
          <p:cNvSpPr txBox="1"/>
          <p:nvPr/>
        </p:nvSpPr>
        <p:spPr>
          <a:xfrm>
            <a:off x="8138160" y="4069080"/>
            <a:ext cx="2011680" cy="502920"/>
          </a:xfrm>
          <a:prstGeom prst="rect">
            <a:avLst/>
          </a:prstGeom>
          <a:noFill/>
          <a:ln/>
        </p:spPr>
        <p:txBody>
          <a:bodyPr wrap="square" rtlCol="0" anchor="ctr"/>
          <a:lstStyle/>
          <a:p>
            <a:pPr marL="0" indent="0" algn="ctr">
              <a:buNone/>
            </a:pPr>
            <a:r>
              <a:rPr lang="en-US" sz="1300" b="1" dirty="0">
                <a:solidFill>
                  <a:srgbClr val="3FA796"/>
                </a:solidFill>
                <a:latin typeface="Calibri" pitchFamily="34" charset="0"/>
                <a:ea typeface="Calibri" pitchFamily="34" charset="-122"/>
                <a:cs typeface="Calibri" pitchFamily="34" charset="-120"/>
              </a:rPr>
              <a:t>0</a:t>
            </a:r>
            <a:endParaRPr lang="en-US" sz="1300" dirty="0"/>
          </a:p>
        </p:txBody>
      </p:sp>
      <p:sp>
        <p:nvSpPr>
          <p:cNvPr id="27" name="Shape 25"/>
          <p:cNvSpPr/>
          <p:nvPr/>
        </p:nvSpPr>
        <p:spPr>
          <a:xfrm>
            <a:off x="548640" y="4572000"/>
            <a:ext cx="9966960" cy="502920"/>
          </a:xfrm>
          <a:prstGeom prst="rect">
            <a:avLst/>
          </a:prstGeom>
          <a:solidFill>
            <a:srgbClr val="1E2761"/>
          </a:solidFill>
          <a:ln/>
        </p:spPr>
        <p:txBody>
          <a:bodyPr/>
          <a:lstStyle/>
          <a:p>
            <a:endParaRPr lang="es-CL"/>
          </a:p>
        </p:txBody>
      </p:sp>
      <p:sp>
        <p:nvSpPr>
          <p:cNvPr id="28" name="Text 26"/>
          <p:cNvSpPr txBox="1"/>
          <p:nvPr/>
        </p:nvSpPr>
        <p:spPr>
          <a:xfrm>
            <a:off x="640080" y="4572000"/>
            <a:ext cx="5120640" cy="50292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Outliers sin tratar (IQR)</a:t>
            </a:r>
            <a:endParaRPr lang="en-US" sz="1250" dirty="0"/>
          </a:p>
        </p:txBody>
      </p:sp>
      <p:sp>
        <p:nvSpPr>
          <p:cNvPr id="29" name="Text 27"/>
          <p:cNvSpPr txBox="1"/>
          <p:nvPr/>
        </p:nvSpPr>
        <p:spPr>
          <a:xfrm>
            <a:off x="5943600" y="4572000"/>
            <a:ext cx="2011680" cy="502920"/>
          </a:xfrm>
          <a:prstGeom prst="rect">
            <a:avLst/>
          </a:prstGeom>
          <a:noFill/>
          <a:ln/>
        </p:spPr>
        <p:txBody>
          <a:bodyPr wrap="square" rtlCol="0" anchor="ctr"/>
          <a:lstStyle/>
          <a:p>
            <a:pPr marL="0" indent="0" algn="ctr">
              <a:buNone/>
            </a:pPr>
            <a:r>
              <a:rPr lang="en-US" sz="1250" dirty="0">
                <a:solidFill>
                  <a:srgbClr val="C8D2EE"/>
                </a:solidFill>
                <a:latin typeface="Calibri" pitchFamily="34" charset="0"/>
                <a:ea typeface="Calibri" pitchFamily="34" charset="-122"/>
                <a:cs typeface="Calibri" pitchFamily="34" charset="-120"/>
              </a:rPr>
              <a:t>393</a:t>
            </a:r>
            <a:endParaRPr lang="en-US" sz="1250" dirty="0"/>
          </a:p>
        </p:txBody>
      </p:sp>
      <p:sp>
        <p:nvSpPr>
          <p:cNvPr id="30" name="Text 28"/>
          <p:cNvSpPr txBox="1"/>
          <p:nvPr/>
        </p:nvSpPr>
        <p:spPr>
          <a:xfrm>
            <a:off x="8138160" y="4572000"/>
            <a:ext cx="2011680" cy="502920"/>
          </a:xfrm>
          <a:prstGeom prst="rect">
            <a:avLst/>
          </a:prstGeom>
          <a:noFill/>
          <a:ln/>
        </p:spPr>
        <p:txBody>
          <a:bodyPr wrap="square" rtlCol="0" anchor="ctr"/>
          <a:lstStyle/>
          <a:p>
            <a:pPr marL="0" indent="0" algn="ctr">
              <a:buNone/>
            </a:pPr>
            <a:r>
              <a:rPr lang="en-US" sz="1300" b="1" dirty="0">
                <a:solidFill>
                  <a:srgbClr val="3FA796"/>
                </a:solidFill>
                <a:latin typeface="Calibri" pitchFamily="34" charset="0"/>
                <a:ea typeface="Calibri" pitchFamily="34" charset="-122"/>
                <a:cs typeface="Calibri" pitchFamily="34" charset="-120"/>
              </a:rPr>
              <a:t>0</a:t>
            </a:r>
            <a:endParaRPr lang="en-US" sz="1300" dirty="0"/>
          </a:p>
        </p:txBody>
      </p:sp>
      <p:sp>
        <p:nvSpPr>
          <p:cNvPr id="31" name="Text 29"/>
          <p:cNvSpPr txBox="1"/>
          <p:nvPr/>
        </p:nvSpPr>
        <p:spPr>
          <a:xfrm>
            <a:off x="640080" y="5166360"/>
            <a:ext cx="9784080" cy="320040"/>
          </a:xfrm>
          <a:prstGeom prst="rect">
            <a:avLst/>
          </a:prstGeom>
          <a:noFill/>
          <a:ln/>
        </p:spPr>
        <p:txBody>
          <a:bodyPr wrap="square" rtlCol="0" anchor="ctr"/>
          <a:lstStyle/>
          <a:p>
            <a:pPr marL="0" indent="0">
              <a:buNone/>
            </a:pPr>
            <a:r>
              <a:rPr lang="en-US" sz="1000" i="1" dirty="0">
                <a:solidFill>
                  <a:srgbClr val="BACBED"/>
                </a:solidFill>
                <a:latin typeface="Calibri" pitchFamily="34" charset="0"/>
                <a:ea typeface="Calibri" pitchFamily="34" charset="-122"/>
                <a:cs typeface="Calibri" pitchFamily="34" charset="-120"/>
              </a:rPr>
              <a:t>*Aumenta por la codificación One-Hot de Scholarship y Program (2 columnas → 7 columnas binarias).</a:t>
            </a:r>
            <a:endParaRPr lang="en-US" sz="1000" dirty="0">
              <a:solidFill>
                <a:srgbClr val="BACBED"/>
              </a:solidFill>
            </a:endParaRPr>
          </a:p>
        </p:txBody>
      </p:sp>
      <p:sp>
        <p:nvSpPr>
          <p:cNvPr id="32" name="Shape 30"/>
          <p:cNvSpPr/>
          <p:nvPr/>
        </p:nvSpPr>
        <p:spPr>
          <a:xfrm>
            <a:off x="10881360" y="1600200"/>
            <a:ext cx="0" cy="0"/>
          </a:xfrm>
          <a:prstGeom prst="roundRect">
            <a:avLst/>
          </a:prstGeom>
          <a:noFill/>
          <a:ln/>
        </p:spPr>
        <p:txBody>
          <a:bodyPr/>
          <a:lstStyle/>
          <a:p>
            <a:endParaRPr lang="es-CL"/>
          </a:p>
        </p:txBody>
      </p:sp>
      <p:sp>
        <p:nvSpPr>
          <p:cNvPr id="33" name="Shape 31"/>
          <p:cNvSpPr/>
          <p:nvPr/>
        </p:nvSpPr>
        <p:spPr>
          <a:xfrm>
            <a:off x="548640" y="5577840"/>
            <a:ext cx="9966960" cy="777240"/>
          </a:xfrm>
          <a:prstGeom prst="roundRect">
            <a:avLst>
              <a:gd name="adj" fmla="val 9412"/>
            </a:avLst>
          </a:prstGeom>
          <a:solidFill>
            <a:srgbClr val="5B7FDB"/>
          </a:solidFill>
          <a:ln/>
        </p:spPr>
        <p:txBody>
          <a:bodyPr/>
          <a:lstStyle/>
          <a:p>
            <a:endParaRPr lang="es-CL"/>
          </a:p>
        </p:txBody>
      </p:sp>
      <p:sp>
        <p:nvSpPr>
          <p:cNvPr id="34" name="Text 32"/>
          <p:cNvSpPr txBox="1"/>
          <p:nvPr/>
        </p:nvSpPr>
        <p:spPr>
          <a:xfrm>
            <a:off x="822960" y="5577840"/>
            <a:ext cx="9418320" cy="7772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Verificación final: 0 nulos · 0 duplicados · 0 inconsistencias · 0 outliers extremos remanentes (|z| &gt; 5)</a:t>
            </a:r>
            <a:endParaRPr lang="en-US" sz="1300" dirty="0"/>
          </a:p>
        </p:txBody>
      </p:sp>
      <p:sp>
        <p:nvSpPr>
          <p:cNvPr id="35" name="Text 33"/>
          <p:cNvSpPr txBox="1"/>
          <p:nvPr/>
        </p:nvSpPr>
        <p:spPr>
          <a:xfrm>
            <a:off x="457200" y="6473952"/>
            <a:ext cx="8686800" cy="274320"/>
          </a:xfrm>
          <a:prstGeom prst="rect">
            <a:avLst/>
          </a:prstGeom>
          <a:noFill/>
          <a:ln/>
        </p:spPr>
        <p:txBody>
          <a:bodyPr wrap="square" rtlCol="0" anchor="ctr"/>
          <a:lstStyle/>
          <a:p>
            <a:pPr marL="0" indent="0">
              <a:buNone/>
            </a:pPr>
            <a:r>
              <a:rPr lang="en-US" sz="900" dirty="0">
                <a:solidFill>
                  <a:srgbClr val="8891C4"/>
                </a:solidFill>
                <a:latin typeface="Calibri" pitchFamily="34" charset="0"/>
                <a:ea typeface="Calibri" pitchFamily="34" charset="-122"/>
                <a:cs typeface="Calibri" pitchFamily="34" charset="-120"/>
              </a:rPr>
              <a:t>Evaluación 1 · Calidad y Preparación de Datos · Rendimiento Académico</a:t>
            </a:r>
            <a:endParaRPr lang="en-US" sz="900" dirty="0"/>
          </a:p>
        </p:txBody>
      </p:sp>
      <p:sp>
        <p:nvSpPr>
          <p:cNvPr id="36" name="Text 34"/>
          <p:cNvSpPr txBox="1"/>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8891C4"/>
                </a:solidFill>
                <a:latin typeface="Calibri" pitchFamily="34" charset="0"/>
                <a:ea typeface="Calibri" pitchFamily="34" charset="-122"/>
                <a:cs typeface="Calibri" pitchFamily="34" charset="-120"/>
              </a:rPr>
              <a:t>9</a:t>
            </a:r>
            <a:endParaRPr lang="en-US" sz="900" dirty="0"/>
          </a:p>
        </p:txBody>
      </p:sp>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54864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Conclusiones generales</a:t>
            </a:r>
            <a:endParaRPr lang="en-US" sz="3000" dirty="0"/>
          </a:p>
        </p:txBody>
      </p:sp>
      <p:sp>
        <p:nvSpPr>
          <p:cNvPr id="3" name="Text 1"/>
          <p:cNvSpPr txBox="1"/>
          <p:nvPr/>
        </p:nvSpPr>
        <p:spPr>
          <a:xfrm>
            <a:off x="548640" y="960120"/>
            <a:ext cx="11064240" cy="365760"/>
          </a:xfrm>
          <a:prstGeom prst="rect">
            <a:avLst/>
          </a:prstGeom>
          <a:noFill/>
          <a:ln/>
        </p:spPr>
        <p:txBody>
          <a:bodyPr wrap="square" rtlCol="0" anchor="ctr"/>
          <a:lstStyle/>
          <a:p>
            <a:pPr marL="0" indent="0">
              <a:buNone/>
            </a:pPr>
            <a:r>
              <a:rPr lang="en-US" sz="1400" dirty="0">
                <a:solidFill>
                  <a:srgbClr val="4A5568"/>
                </a:solidFill>
                <a:latin typeface="Calibri" pitchFamily="34" charset="0"/>
                <a:ea typeface="Calibri" pitchFamily="34" charset="-122"/>
                <a:cs typeface="Calibri" pitchFamily="34" charset="-120"/>
              </a:rPr>
              <a:t>Tres hallazgos sustentados en el EDA y el proceso de tratamiento</a:t>
            </a:r>
            <a:endParaRPr lang="en-US" sz="1400" dirty="0"/>
          </a:p>
        </p:txBody>
      </p:sp>
      <p:sp>
        <p:nvSpPr>
          <p:cNvPr id="4" name="Shape 2"/>
          <p:cNvSpPr/>
          <p:nvPr/>
        </p:nvSpPr>
        <p:spPr>
          <a:xfrm>
            <a:off x="548640" y="1645920"/>
            <a:ext cx="594360" cy="594360"/>
          </a:xfrm>
          <a:prstGeom prst="ellipse">
            <a:avLst/>
          </a:prstGeom>
          <a:solidFill>
            <a:srgbClr val="1E2761"/>
          </a:solidFill>
          <a:ln/>
        </p:spPr>
        <p:txBody>
          <a:bodyPr/>
          <a:lstStyle/>
          <a:p>
            <a:endParaRPr lang="es-CL"/>
          </a:p>
        </p:txBody>
      </p:sp>
      <p:pic>
        <p:nvPicPr>
          <p:cNvPr id="5" name="Image 0" descr="icons/chart_line_white.png"/>
          <p:cNvPicPr>
            <a:picLocks noChangeAspect="1"/>
          </p:cNvPicPr>
          <p:nvPr/>
        </p:nvPicPr>
        <p:blipFill>
          <a:blip r:embed="rId3"/>
          <a:stretch>
            <a:fillRect/>
          </a:stretch>
        </p:blipFill>
        <p:spPr>
          <a:xfrm>
            <a:off x="691286" y="1788566"/>
            <a:ext cx="309067" cy="309067"/>
          </a:xfrm>
          <a:prstGeom prst="rect">
            <a:avLst/>
          </a:prstGeom>
        </p:spPr>
      </p:pic>
      <p:sp>
        <p:nvSpPr>
          <p:cNvPr id="6" name="Text 3"/>
          <p:cNvSpPr txBox="1"/>
          <p:nvPr/>
        </p:nvSpPr>
        <p:spPr>
          <a:xfrm>
            <a:off x="1371600" y="1645920"/>
            <a:ext cx="10241280" cy="822960"/>
          </a:xfrm>
          <a:prstGeom prst="rect">
            <a:avLst/>
          </a:prstGeom>
          <a:noFill/>
          <a:ln/>
        </p:spPr>
        <p:txBody>
          <a:bodyPr wrap="square" rtlCol="0" anchor="ctr"/>
          <a:lstStyle/>
          <a:p>
            <a:pPr marL="0" indent="0">
              <a:lnSpc>
                <a:spcPct val="115000"/>
              </a:lnSpc>
              <a:buNone/>
            </a:pPr>
            <a:r>
              <a:rPr lang="en-US" sz="1300" dirty="0">
                <a:solidFill>
                  <a:srgbClr val="4A5568"/>
                </a:solidFill>
                <a:latin typeface="Calibri" pitchFamily="34" charset="0"/>
                <a:ea typeface="Calibri" pitchFamily="34" charset="-122"/>
                <a:cs typeface="Calibri" pitchFamily="34" charset="-120"/>
              </a:rPr>
              <a:t>El cumplimiento de tareas, el rendimiento previo y la asistencia son los factores numéricos más asociados al rendimiento (r ≈ 0.69, 0.66 y 0.64); las horas de estudio semanales muestran una asociación más moderada (r ≈ 0.50).</a:t>
            </a:r>
            <a:endParaRPr lang="en-US" sz="1300" dirty="0"/>
          </a:p>
        </p:txBody>
      </p:sp>
      <p:sp>
        <p:nvSpPr>
          <p:cNvPr id="7" name="Shape 4"/>
          <p:cNvSpPr/>
          <p:nvPr/>
        </p:nvSpPr>
        <p:spPr>
          <a:xfrm>
            <a:off x="548640" y="2606040"/>
            <a:ext cx="594360" cy="594360"/>
          </a:xfrm>
          <a:prstGeom prst="ellipse">
            <a:avLst/>
          </a:prstGeom>
          <a:solidFill>
            <a:srgbClr val="1E2761"/>
          </a:solidFill>
          <a:ln/>
        </p:spPr>
        <p:txBody>
          <a:bodyPr/>
          <a:lstStyle/>
          <a:p>
            <a:endParaRPr lang="es-CL"/>
          </a:p>
        </p:txBody>
      </p:sp>
      <p:pic>
        <p:nvPicPr>
          <p:cNvPr id="8" name="Image 1" descr="icons/usergrad_white.png"/>
          <p:cNvPicPr>
            <a:picLocks noChangeAspect="1"/>
          </p:cNvPicPr>
          <p:nvPr/>
        </p:nvPicPr>
        <p:blipFill>
          <a:blip r:embed="rId4"/>
          <a:stretch>
            <a:fillRect/>
          </a:stretch>
        </p:blipFill>
        <p:spPr>
          <a:xfrm>
            <a:off x="691286" y="2748686"/>
            <a:ext cx="309067" cy="309067"/>
          </a:xfrm>
          <a:prstGeom prst="rect">
            <a:avLst/>
          </a:prstGeom>
        </p:spPr>
      </p:pic>
      <p:sp>
        <p:nvSpPr>
          <p:cNvPr id="9" name="Text 5"/>
          <p:cNvSpPr txBox="1"/>
          <p:nvPr/>
        </p:nvSpPr>
        <p:spPr>
          <a:xfrm>
            <a:off x="1371600" y="2606040"/>
            <a:ext cx="10241280" cy="822960"/>
          </a:xfrm>
          <a:prstGeom prst="rect">
            <a:avLst/>
          </a:prstGeom>
          <a:noFill/>
          <a:ln/>
        </p:spPr>
        <p:txBody>
          <a:bodyPr wrap="square" rtlCol="0" anchor="ctr"/>
          <a:lstStyle/>
          <a:p>
            <a:pPr marL="0" indent="0">
              <a:lnSpc>
                <a:spcPct val="115000"/>
              </a:lnSpc>
              <a:buNone/>
            </a:pPr>
            <a:r>
              <a:rPr lang="en-US" sz="1300" dirty="0">
                <a:solidFill>
                  <a:srgbClr val="4A5568"/>
                </a:solidFill>
                <a:latin typeface="Calibri" pitchFamily="34" charset="0"/>
                <a:ea typeface="Calibri" pitchFamily="34" charset="-122"/>
                <a:cs typeface="Calibri" pitchFamily="34" charset="-120"/>
              </a:rPr>
              <a:t>Poseer beca se asocia con mejor rendimiento: +0.30 puntos en promedio, diferencia estadísticamente significativa (p &lt; 0.001), aunque puede reflejar tanto un efecto directo como un sesgo de selección.</a:t>
            </a:r>
            <a:endParaRPr lang="en-US" sz="1300" dirty="0"/>
          </a:p>
        </p:txBody>
      </p:sp>
      <p:sp>
        <p:nvSpPr>
          <p:cNvPr id="10" name="Shape 6"/>
          <p:cNvSpPr/>
          <p:nvPr/>
        </p:nvSpPr>
        <p:spPr>
          <a:xfrm>
            <a:off x="548640" y="3566160"/>
            <a:ext cx="594360" cy="594360"/>
          </a:xfrm>
          <a:prstGeom prst="ellipse">
            <a:avLst/>
          </a:prstGeom>
          <a:solidFill>
            <a:srgbClr val="1E2761"/>
          </a:solidFill>
          <a:ln/>
        </p:spPr>
        <p:txBody>
          <a:bodyPr/>
          <a:lstStyle/>
          <a:p>
            <a:endParaRPr lang="es-CL"/>
          </a:p>
        </p:txBody>
      </p:sp>
      <p:pic>
        <p:nvPicPr>
          <p:cNvPr id="11" name="Image 2" descr="icons/database_white.png"/>
          <p:cNvPicPr>
            <a:picLocks noChangeAspect="1"/>
          </p:cNvPicPr>
          <p:nvPr/>
        </p:nvPicPr>
        <p:blipFill>
          <a:blip r:embed="rId5"/>
          <a:stretch>
            <a:fillRect/>
          </a:stretch>
        </p:blipFill>
        <p:spPr>
          <a:xfrm>
            <a:off x="691286" y="3708806"/>
            <a:ext cx="309067" cy="309067"/>
          </a:xfrm>
          <a:prstGeom prst="rect">
            <a:avLst/>
          </a:prstGeom>
        </p:spPr>
      </p:pic>
      <p:sp>
        <p:nvSpPr>
          <p:cNvPr id="12" name="Text 7"/>
          <p:cNvSpPr txBox="1"/>
          <p:nvPr/>
        </p:nvSpPr>
        <p:spPr>
          <a:xfrm>
            <a:off x="1371600" y="3566160"/>
            <a:ext cx="10241280" cy="822960"/>
          </a:xfrm>
          <a:prstGeom prst="rect">
            <a:avLst/>
          </a:prstGeom>
          <a:noFill/>
          <a:ln/>
        </p:spPr>
        <p:txBody>
          <a:bodyPr wrap="square" rtlCol="0" anchor="ctr"/>
          <a:lstStyle/>
          <a:p>
            <a:pPr marL="0" indent="0">
              <a:lnSpc>
                <a:spcPct val="115000"/>
              </a:lnSpc>
              <a:buNone/>
            </a:pPr>
            <a:r>
              <a:rPr lang="en-US" sz="1300" dirty="0">
                <a:solidFill>
                  <a:srgbClr val="4A5568"/>
                </a:solidFill>
                <a:latin typeface="Calibri" pitchFamily="34" charset="0"/>
                <a:ea typeface="Calibri" pitchFamily="34" charset="-122"/>
                <a:cs typeface="Calibri" pitchFamily="34" charset="-120"/>
              </a:rPr>
              <a:t>El programa académico explica poca variación en el rendimiento (solo 0.18 puntos entre el mejor y el peor promedio), muy por debajo de la brecha observada por beca.</a:t>
            </a:r>
            <a:endParaRPr lang="en-US" sz="1300" dirty="0"/>
          </a:p>
        </p:txBody>
      </p:sp>
      <p:sp>
        <p:nvSpPr>
          <p:cNvPr id="13" name="Shape 8"/>
          <p:cNvSpPr/>
          <p:nvPr/>
        </p:nvSpPr>
        <p:spPr>
          <a:xfrm>
            <a:off x="548640" y="4663440"/>
            <a:ext cx="11109960" cy="1234440"/>
          </a:xfrm>
          <a:prstGeom prst="roundRect">
            <a:avLst>
              <a:gd name="adj" fmla="val 6667"/>
            </a:avLst>
          </a:prstGeom>
          <a:solidFill>
            <a:srgbClr val="1E2761"/>
          </a:solidFill>
          <a:ln/>
        </p:spPr>
        <p:txBody>
          <a:bodyPr/>
          <a:lstStyle/>
          <a:p>
            <a:endParaRPr lang="es-CL"/>
          </a:p>
        </p:txBody>
      </p:sp>
      <p:sp>
        <p:nvSpPr>
          <p:cNvPr id="14" name="Shape 9"/>
          <p:cNvSpPr/>
          <p:nvPr/>
        </p:nvSpPr>
        <p:spPr>
          <a:xfrm>
            <a:off x="822960" y="4892040"/>
            <a:ext cx="777240" cy="777240"/>
          </a:xfrm>
          <a:prstGeom prst="ellipse">
            <a:avLst/>
          </a:prstGeom>
          <a:solidFill>
            <a:srgbClr val="5B7FDB"/>
          </a:solidFill>
          <a:ln/>
        </p:spPr>
        <p:txBody>
          <a:bodyPr/>
          <a:lstStyle/>
          <a:p>
            <a:endParaRPr lang="es-CL"/>
          </a:p>
        </p:txBody>
      </p:sp>
      <p:pic>
        <p:nvPicPr>
          <p:cNvPr id="15" name="Image 3" descr="icons/csv_white.png"/>
          <p:cNvPicPr>
            <a:picLocks noChangeAspect="1"/>
          </p:cNvPicPr>
          <p:nvPr/>
        </p:nvPicPr>
        <p:blipFill>
          <a:blip r:embed="rId6"/>
          <a:stretch>
            <a:fillRect/>
          </a:stretch>
        </p:blipFill>
        <p:spPr>
          <a:xfrm>
            <a:off x="1009498" y="5078578"/>
            <a:ext cx="404165" cy="404165"/>
          </a:xfrm>
          <a:prstGeom prst="rect">
            <a:avLst/>
          </a:prstGeom>
        </p:spPr>
      </p:pic>
      <p:sp>
        <p:nvSpPr>
          <p:cNvPr id="16" name="Text 10"/>
          <p:cNvSpPr txBox="1"/>
          <p:nvPr/>
        </p:nvSpPr>
        <p:spPr>
          <a:xfrm>
            <a:off x="1828800" y="4800600"/>
            <a:ext cx="9601200" cy="41148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rendimiento_academico_limpio.csv</a:t>
            </a:r>
            <a:endParaRPr lang="en-US" sz="1600" dirty="0"/>
          </a:p>
        </p:txBody>
      </p:sp>
      <p:sp>
        <p:nvSpPr>
          <p:cNvPr id="17" name="Text 11"/>
          <p:cNvSpPr txBox="1"/>
          <p:nvPr/>
        </p:nvSpPr>
        <p:spPr>
          <a:xfrm>
            <a:off x="1828800" y="5212080"/>
            <a:ext cx="9601200" cy="548640"/>
          </a:xfrm>
          <a:prstGeom prst="rect">
            <a:avLst/>
          </a:prstGeom>
          <a:noFill/>
          <a:ln/>
        </p:spPr>
        <p:txBody>
          <a:bodyPr wrap="square" rtlCol="0" anchor="ctr"/>
          <a:lstStyle/>
          <a:p>
            <a:pPr marL="0" indent="0">
              <a:lnSpc>
                <a:spcPct val="110000"/>
              </a:lnSpc>
              <a:buNone/>
            </a:pPr>
            <a:r>
              <a:rPr lang="en-US" sz="1150" dirty="0">
                <a:solidFill>
                  <a:srgbClr val="CADCFC"/>
                </a:solidFill>
                <a:latin typeface="Calibri" pitchFamily="34" charset="0"/>
                <a:ea typeface="Calibri" pitchFamily="34" charset="-122"/>
                <a:cs typeface="Calibri" pitchFamily="34" charset="-120"/>
              </a:rPr>
              <a:t>Dataset reproducible de 4.996 registros, listo para el desarrollo de modelos predictivos de rendimiento académico. Proceso ejecutable de principio a fin desde el CSV original.</a:t>
            </a:r>
            <a:endParaRPr lang="en-US" sz="1150" dirty="0"/>
          </a:p>
        </p:txBody>
      </p:sp>
      <p:sp>
        <p:nvSpPr>
          <p:cNvPr id="18" name="Text 12"/>
          <p:cNvSpPr txBox="1"/>
          <p:nvPr/>
        </p:nvSpPr>
        <p:spPr>
          <a:xfrm>
            <a:off x="457200" y="6473952"/>
            <a:ext cx="8686800" cy="274320"/>
          </a:xfrm>
          <a:prstGeom prst="rect">
            <a:avLst/>
          </a:prstGeom>
          <a:noFill/>
          <a:ln/>
        </p:spPr>
        <p:txBody>
          <a:bodyPr wrap="square" rtlCol="0" anchor="ctr"/>
          <a:lstStyle/>
          <a:p>
            <a:pPr marL="0" indent="0">
              <a:buNone/>
            </a:pPr>
            <a:r>
              <a:rPr lang="en-US" sz="900" dirty="0">
                <a:solidFill>
                  <a:srgbClr val="9AA3B8"/>
                </a:solidFill>
                <a:latin typeface="Calibri" pitchFamily="34" charset="0"/>
                <a:ea typeface="Calibri" pitchFamily="34" charset="-122"/>
                <a:cs typeface="Calibri" pitchFamily="34" charset="-120"/>
              </a:rPr>
              <a:t>Evaluación 1 · Calidad y Preparación de Datos · Rendimiento Académico</a:t>
            </a:r>
            <a:endParaRPr lang="en-US" sz="900" dirty="0"/>
          </a:p>
        </p:txBody>
      </p:sp>
      <p:sp>
        <p:nvSpPr>
          <p:cNvPr id="19" name="Text 13"/>
          <p:cNvSpPr txBox="1"/>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10</a:t>
            </a:r>
            <a:endParaRPr lang="en-US" sz="900" dirty="0"/>
          </a:p>
        </p:txBody>
      </p:sp>
    </p:spTree>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2598</Words>
  <Application>Microsoft Office PowerPoint</Application>
  <PresentationFormat>Panorámica</PresentationFormat>
  <Paragraphs>182</Paragraphs>
  <Slides>10</Slides>
  <Notes>10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BenjamÃ­n Esteban Paredes Aguayo</cp:lastModifiedBy>
  <cp:revision>4</cp:revision>
  <dcterms:created xsi:type="dcterms:W3CDTF">2026-09-04T01:54:48Z</dcterms:created>
  <dcterms:modified xsi:type="dcterms:W3CDTF">2026-09-04T04:32:23Z</dcterms:modified>
</cp:coreProperties>
</file>